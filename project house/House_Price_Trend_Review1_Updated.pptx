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68" r:id="rId2"/>
    <p:sldId id="257" r:id="rId3"/>
    <p:sldId id="258" r:id="rId4"/>
    <p:sldId id="259" r:id="rId5"/>
    <p:sldId id="260" r:id="rId6"/>
    <p:sldId id="261" r:id="rId7"/>
    <p:sldId id="270" r:id="rId8"/>
    <p:sldId id="271" r:id="rId9"/>
    <p:sldId id="274" r:id="rId10"/>
    <p:sldId id="272" r:id="rId11"/>
    <p:sldId id="273" r:id="rId12"/>
    <p:sldId id="263" r:id="rId13"/>
    <p:sldId id="269" r:id="rId14"/>
    <p:sldId id="265" r:id="rId15"/>
    <p:sldId id="275" r:id="rId16"/>
    <p:sldId id="276" r:id="rId17"/>
    <p:sldId id="277" r:id="rId18"/>
    <p:sldId id="279" r:id="rId19"/>
    <p:sldId id="267" r:id="rId20"/>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355" autoAdjust="0"/>
  </p:normalViewPr>
  <p:slideViewPr>
    <p:cSldViewPr>
      <p:cViewPr varScale="1">
        <p:scale>
          <a:sx n="38" d="100"/>
          <a:sy n="38" d="100"/>
        </p:scale>
        <p:origin x="246" y="54"/>
      </p:cViewPr>
      <p:guideLst>
        <p:guide orient="horz" pos="2880"/>
        <p:guide pos="2160"/>
      </p:guideLst>
    </p:cSldViewPr>
  </p:slideViewPr>
  <p:outlineViewPr>
    <p:cViewPr>
      <p:scale>
        <a:sx n="33" d="100"/>
        <a:sy n="33" d="100"/>
      </p:scale>
      <p:origin x="0" y="-633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lakshmi bokka" userId="8fdc1fd698761dd2" providerId="LiveId" clId="{25106571-BD9F-4D98-A71B-B418064B1788}"/>
    <pc:docChg chg="undo custSel modSld">
      <pc:chgData name="hemalakshmi bokka" userId="8fdc1fd698761dd2" providerId="LiveId" clId="{25106571-BD9F-4D98-A71B-B418064B1788}" dt="2026-02-09T15:12:29.452" v="42" actId="20577"/>
      <pc:docMkLst>
        <pc:docMk/>
      </pc:docMkLst>
      <pc:sldChg chg="modSp mod">
        <pc:chgData name="hemalakshmi bokka" userId="8fdc1fd698761dd2" providerId="LiveId" clId="{25106571-BD9F-4D98-A71B-B418064B1788}" dt="2026-02-09T15:10:18.923" v="17" actId="1076"/>
        <pc:sldMkLst>
          <pc:docMk/>
          <pc:sldMk cId="0" sldId="258"/>
        </pc:sldMkLst>
        <pc:spChg chg="mod">
          <ac:chgData name="hemalakshmi bokka" userId="8fdc1fd698761dd2" providerId="LiveId" clId="{25106571-BD9F-4D98-A71B-B418064B1788}" dt="2026-02-09T15:10:18.923" v="17" actId="1076"/>
          <ac:spMkLst>
            <pc:docMk/>
            <pc:sldMk cId="0" sldId="258"/>
            <ac:spMk id="5" creationId="{00000000-0000-0000-0000-000000000000}"/>
          </ac:spMkLst>
        </pc:spChg>
      </pc:sldChg>
      <pc:sldChg chg="modSp mod">
        <pc:chgData name="hemalakshmi bokka" userId="8fdc1fd698761dd2" providerId="LiveId" clId="{25106571-BD9F-4D98-A71B-B418064B1788}" dt="2026-02-09T15:10:54.763" v="20" actId="20577"/>
        <pc:sldMkLst>
          <pc:docMk/>
          <pc:sldMk cId="0" sldId="259"/>
        </pc:sldMkLst>
        <pc:spChg chg="mod">
          <ac:chgData name="hemalakshmi bokka" userId="8fdc1fd698761dd2" providerId="LiveId" clId="{25106571-BD9F-4D98-A71B-B418064B1788}" dt="2026-02-09T15:10:54.763" v="20" actId="20577"/>
          <ac:spMkLst>
            <pc:docMk/>
            <pc:sldMk cId="0" sldId="259"/>
            <ac:spMk id="9" creationId="{6AC5A71F-F914-BE85-8E84-E2F5D8A211D3}"/>
          </ac:spMkLst>
        </pc:spChg>
      </pc:sldChg>
      <pc:sldChg chg="modSp mod">
        <pc:chgData name="hemalakshmi bokka" userId="8fdc1fd698761dd2" providerId="LiveId" clId="{25106571-BD9F-4D98-A71B-B418064B1788}" dt="2026-02-09T04:40:30.532" v="14" actId="2711"/>
        <pc:sldMkLst>
          <pc:docMk/>
          <pc:sldMk cId="0" sldId="265"/>
        </pc:sldMkLst>
        <pc:spChg chg="mod">
          <ac:chgData name="hemalakshmi bokka" userId="8fdc1fd698761dd2" providerId="LiveId" clId="{25106571-BD9F-4D98-A71B-B418064B1788}" dt="2026-02-09T04:40:30.532" v="14" actId="2711"/>
          <ac:spMkLst>
            <pc:docMk/>
            <pc:sldMk cId="0" sldId="265"/>
            <ac:spMk id="11" creationId="{2C8164D2-C27A-08C7-786F-8E4FE1526844}"/>
          </ac:spMkLst>
        </pc:spChg>
      </pc:sldChg>
      <pc:sldChg chg="modSp mod">
        <pc:chgData name="hemalakshmi bokka" userId="8fdc1fd698761dd2" providerId="LiveId" clId="{25106571-BD9F-4D98-A71B-B418064B1788}" dt="2026-02-09T04:39:34.226" v="11" actId="1036"/>
        <pc:sldMkLst>
          <pc:docMk/>
          <pc:sldMk cId="0" sldId="268"/>
        </pc:sldMkLst>
        <pc:spChg chg="mod">
          <ac:chgData name="hemalakshmi bokka" userId="8fdc1fd698761dd2" providerId="LiveId" clId="{25106571-BD9F-4D98-A71B-B418064B1788}" dt="2026-02-08T13:13:44.456" v="1" actId="688"/>
          <ac:spMkLst>
            <pc:docMk/>
            <pc:sldMk cId="0" sldId="268"/>
            <ac:spMk id="4" creationId="{00000000-0000-0000-0000-000000000000}"/>
          </ac:spMkLst>
        </pc:spChg>
        <pc:spChg chg="mod">
          <ac:chgData name="hemalakshmi bokka" userId="8fdc1fd698761dd2" providerId="LiveId" clId="{25106571-BD9F-4D98-A71B-B418064B1788}" dt="2026-02-09T04:39:34.226" v="11" actId="1036"/>
          <ac:spMkLst>
            <pc:docMk/>
            <pc:sldMk cId="0" sldId="268"/>
            <ac:spMk id="9" creationId="{00000000-0000-0000-0000-000000000000}"/>
          </ac:spMkLst>
        </pc:spChg>
      </pc:sldChg>
      <pc:sldChg chg="modSp mod">
        <pc:chgData name="hemalakshmi bokka" userId="8fdc1fd698761dd2" providerId="LiveId" clId="{25106571-BD9F-4D98-A71B-B418064B1788}" dt="2026-02-09T15:12:29.452" v="42" actId="20577"/>
        <pc:sldMkLst>
          <pc:docMk/>
          <pc:sldMk cId="2277419681" sldId="270"/>
        </pc:sldMkLst>
        <pc:spChg chg="mod">
          <ac:chgData name="hemalakshmi bokka" userId="8fdc1fd698761dd2" providerId="LiveId" clId="{25106571-BD9F-4D98-A71B-B418064B1788}" dt="2026-02-09T15:12:29.452" v="42" actId="20577"/>
          <ac:spMkLst>
            <pc:docMk/>
            <pc:sldMk cId="2277419681" sldId="270"/>
            <ac:spMk id="3" creationId="{369215C5-1CC8-EAFA-6D5B-26DD58753C82}"/>
          </ac:spMkLst>
        </pc:spChg>
      </pc:sldChg>
      <pc:sldChg chg="addSp modSp">
        <pc:chgData name="hemalakshmi bokka" userId="8fdc1fd698761dd2" providerId="LiveId" clId="{25106571-BD9F-4D98-A71B-B418064B1788}" dt="2026-02-09T04:40:09.008" v="13"/>
        <pc:sldMkLst>
          <pc:docMk/>
          <pc:sldMk cId="3542773707" sldId="274"/>
        </pc:sldMkLst>
        <pc:picChg chg="add mod">
          <ac:chgData name="hemalakshmi bokka" userId="8fdc1fd698761dd2" providerId="LiveId" clId="{25106571-BD9F-4D98-A71B-B418064B1788}" dt="2026-02-09T04:40:01.932" v="12"/>
          <ac:picMkLst>
            <pc:docMk/>
            <pc:sldMk cId="3542773707" sldId="274"/>
            <ac:picMk id="2" creationId="{C9809FD3-CF94-5A4C-5699-F76BCD19086B}"/>
          </ac:picMkLst>
        </pc:picChg>
        <pc:picChg chg="add mod">
          <ac:chgData name="hemalakshmi bokka" userId="8fdc1fd698761dd2" providerId="LiveId" clId="{25106571-BD9F-4D98-A71B-B418064B1788}" dt="2026-02-09T04:40:09.008" v="13"/>
          <ac:picMkLst>
            <pc:docMk/>
            <pc:sldMk cId="3542773707" sldId="274"/>
            <ac:picMk id="7" creationId="{68B530CB-DD94-F37F-3AED-0F2B3D3D1F65}"/>
          </ac:picMkLst>
        </pc:picChg>
      </pc:sldChg>
      <pc:sldChg chg="addSp modSp mod">
        <pc:chgData name="hemalakshmi bokka" userId="8fdc1fd698761dd2" providerId="LiveId" clId="{25106571-BD9F-4D98-A71B-B418064B1788}" dt="2026-02-09T04:40:53.573" v="15" actId="207"/>
        <pc:sldMkLst>
          <pc:docMk/>
          <pc:sldMk cId="0" sldId="275"/>
        </pc:sldMkLst>
        <pc:spChg chg="mod">
          <ac:chgData name="hemalakshmi bokka" userId="8fdc1fd698761dd2" providerId="LiveId" clId="{25106571-BD9F-4D98-A71B-B418064B1788}" dt="2026-02-09T04:40:53.573" v="15" actId="207"/>
          <ac:spMkLst>
            <pc:docMk/>
            <pc:sldMk cId="0" sldId="275"/>
            <ac:spMk id="3" creationId="{00000000-0000-0000-0000-000000000000}"/>
          </ac:spMkLst>
        </pc:spChg>
        <pc:picChg chg="add mod modCrop">
          <ac:chgData name="hemalakshmi bokka" userId="8fdc1fd698761dd2" providerId="LiveId" clId="{25106571-BD9F-4D98-A71B-B418064B1788}" dt="2026-02-08T13:15:22.715" v="10" actId="14100"/>
          <ac:picMkLst>
            <pc:docMk/>
            <pc:sldMk cId="0" sldId="275"/>
            <ac:picMk id="5" creationId="{B75FD6F5-90BD-2B6B-13D7-2B4B5B581B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496F8F7F-8762-4042-B358-3EAE6E0E6AB1}" type="datetimeFigureOut">
              <a:rPr lang="en-IN" smtClean="0"/>
              <a:t>09-02-2026</a:t>
            </a:fld>
            <a:endParaRPr lang="en-IN"/>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9AEA36E7-91C3-4242-9D72-71662A58AFDD}" type="slidenum">
              <a:rPr lang="en-IN" smtClean="0"/>
              <a:t>‹#›</a:t>
            </a:fld>
            <a:endParaRPr lang="en-IN"/>
          </a:p>
        </p:txBody>
      </p:sp>
    </p:spTree>
    <p:extLst>
      <p:ext uri="{BB962C8B-B14F-4D97-AF65-F5344CB8AC3E}">
        <p14:creationId xmlns:p14="http://schemas.microsoft.com/office/powerpoint/2010/main" val="4271063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EA36E7-91C3-4242-9D72-71662A58AFDD}" type="slidenum">
              <a:rPr lang="en-IN" smtClean="0"/>
              <a:t>2</a:t>
            </a:fld>
            <a:endParaRPr lang="en-IN"/>
          </a:p>
        </p:txBody>
      </p:sp>
    </p:spTree>
    <p:extLst>
      <p:ext uri="{BB962C8B-B14F-4D97-AF65-F5344CB8AC3E}">
        <p14:creationId xmlns:p14="http://schemas.microsoft.com/office/powerpoint/2010/main" val="1460763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EA36E7-91C3-4242-9D72-71662A58AFDD}" type="slidenum">
              <a:rPr lang="en-IN" smtClean="0"/>
              <a:t>15</a:t>
            </a:fld>
            <a:endParaRPr lang="en-IN"/>
          </a:p>
        </p:txBody>
      </p:sp>
    </p:spTree>
    <p:extLst>
      <p:ext uri="{BB962C8B-B14F-4D97-AF65-F5344CB8AC3E}">
        <p14:creationId xmlns:p14="http://schemas.microsoft.com/office/powerpoint/2010/main" val="2335191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6050" b="0" i="0">
                <a:solidFill>
                  <a:srgbClr val="232323"/>
                </a:solidFill>
                <a:latin typeface="Calibri"/>
                <a:cs typeface="Calibri"/>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72806" y="720261"/>
            <a:ext cx="10964430" cy="1086244"/>
          </a:xfrm>
          <a:prstGeom prst="rect">
            <a:avLst/>
          </a:prstGeom>
        </p:spPr>
        <p:txBody>
          <a:bodyPr wrap="square" lIns="0" tIns="0" rIns="0" bIns="0">
            <a:spAutoFit/>
          </a:bodyPr>
          <a:lstStyle>
            <a:lvl1pPr>
              <a:defRPr sz="6050" b="0" i="0">
                <a:solidFill>
                  <a:srgbClr val="232323"/>
                </a:solidFill>
                <a:latin typeface="Calibri"/>
                <a:cs typeface="Calibri"/>
              </a:defRPr>
            </a:lvl1pPr>
          </a:lstStyle>
          <a:p>
            <a:endParaRPr/>
          </a:p>
        </p:txBody>
      </p:sp>
      <p:sp>
        <p:nvSpPr>
          <p:cNvPr id="3" name="Holder 3"/>
          <p:cNvSpPr>
            <a:spLocks noGrp="1"/>
          </p:cNvSpPr>
          <p:nvPr>
            <p:ph type="body" idx="1"/>
          </p:nvPr>
        </p:nvSpPr>
        <p:spPr>
          <a:xfrm>
            <a:off x="976612" y="4544637"/>
            <a:ext cx="18150875" cy="3667759"/>
          </a:xfrm>
          <a:prstGeom prst="rect">
            <a:avLst/>
          </a:prstGeom>
        </p:spPr>
        <p:txBody>
          <a:bodyPr wrap="square" lIns="0" tIns="0" rIns="0" bIns="0">
            <a:spAutoFit/>
          </a:bodyPr>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77337" y="3855143"/>
            <a:ext cx="17485084" cy="3636755"/>
          </a:xfrm>
          <a:prstGeom prst="rect">
            <a:avLst/>
          </a:prstGeom>
        </p:spPr>
        <p:txBody>
          <a:bodyPr vert="horz" wrap="square" lIns="0" tIns="116449" rIns="0" bIns="0" rtlCol="0">
            <a:spAutoFit/>
          </a:bodyPr>
          <a:lstStyle/>
          <a:p>
            <a:pPr marL="19737" marR="7895" algn="ctr">
              <a:lnSpc>
                <a:spcPts val="6045"/>
              </a:lnSpc>
              <a:spcBef>
                <a:spcPts val="917"/>
              </a:spcBef>
            </a:pPr>
            <a:r>
              <a:rPr lang="en-US" sz="5600" b="1" dirty="0">
                <a:solidFill>
                  <a:schemeClr val="tx2"/>
                </a:solidFill>
              </a:rPr>
              <a:t>House Price Trends Analysis Using Real Estate Data </a:t>
            </a:r>
            <a:endParaRPr lang="en-IN" sz="5600" b="1" dirty="0">
              <a:solidFill>
                <a:schemeClr val="tx2"/>
              </a:solidFill>
              <a:latin typeface="Times New Roman"/>
              <a:cs typeface="Times New Roman"/>
            </a:endParaRPr>
          </a:p>
          <a:p>
            <a:pPr marL="31579" algn="ctr">
              <a:spcBef>
                <a:spcPts val="3652"/>
              </a:spcBef>
            </a:pPr>
            <a:r>
              <a:rPr lang="en-IN" sz="4351" dirty="0">
                <a:latin typeface="Times New Roman"/>
                <a:cs typeface="Times New Roman"/>
              </a:rPr>
              <a:t>Under</a:t>
            </a:r>
            <a:r>
              <a:rPr lang="en-IN" sz="4351" spc="-155" dirty="0">
                <a:latin typeface="Times New Roman"/>
                <a:cs typeface="Times New Roman"/>
              </a:rPr>
              <a:t> </a:t>
            </a:r>
            <a:r>
              <a:rPr lang="en-IN" sz="4196" dirty="0">
                <a:latin typeface="Times New Roman"/>
                <a:cs typeface="Times New Roman"/>
              </a:rPr>
              <a:t>the</a:t>
            </a:r>
            <a:r>
              <a:rPr lang="en-IN" sz="4196" spc="-70" dirty="0">
                <a:latin typeface="Times New Roman"/>
                <a:cs typeface="Times New Roman"/>
              </a:rPr>
              <a:t> </a:t>
            </a:r>
            <a:r>
              <a:rPr lang="en-IN" sz="4196" dirty="0">
                <a:latin typeface="Times New Roman"/>
                <a:cs typeface="Times New Roman"/>
              </a:rPr>
              <a:t>esteemed</a:t>
            </a:r>
            <a:r>
              <a:rPr lang="en-IN" sz="4196" spc="62" dirty="0">
                <a:latin typeface="Times New Roman"/>
                <a:cs typeface="Times New Roman"/>
              </a:rPr>
              <a:t> </a:t>
            </a:r>
            <a:r>
              <a:rPr lang="en-IN" sz="4196" dirty="0">
                <a:latin typeface="Times New Roman"/>
                <a:cs typeface="Times New Roman"/>
              </a:rPr>
              <a:t>Guidance</a:t>
            </a:r>
            <a:r>
              <a:rPr lang="en-IN" sz="4196" spc="-78" dirty="0">
                <a:latin typeface="Times New Roman"/>
                <a:cs typeface="Times New Roman"/>
              </a:rPr>
              <a:t> </a:t>
            </a:r>
            <a:r>
              <a:rPr lang="en-IN" sz="4196" spc="-39" dirty="0">
                <a:latin typeface="Times New Roman"/>
                <a:cs typeface="Times New Roman"/>
              </a:rPr>
              <a:t>of</a:t>
            </a:r>
            <a:endParaRPr lang="en-IN" sz="4196" dirty="0">
              <a:latin typeface="Times New Roman"/>
              <a:cs typeface="Times New Roman"/>
            </a:endParaRPr>
          </a:p>
          <a:p>
            <a:pPr marL="22696" algn="ctr">
              <a:spcBef>
                <a:spcPts val="1329"/>
              </a:spcBef>
            </a:pPr>
            <a:r>
              <a:rPr lang="en-IN" sz="4351" b="1" spc="-109" dirty="0">
                <a:solidFill>
                  <a:srgbClr val="C00000"/>
                </a:solidFill>
                <a:latin typeface="Times New Roman"/>
                <a:cs typeface="Times New Roman"/>
              </a:rPr>
              <a:t>Mr.</a:t>
            </a:r>
            <a:r>
              <a:rPr lang="en-IN" sz="4351" b="1" spc="-177" dirty="0">
                <a:solidFill>
                  <a:srgbClr val="C00000"/>
                </a:solidFill>
                <a:latin typeface="Times New Roman"/>
                <a:cs typeface="Times New Roman"/>
              </a:rPr>
              <a:t> </a:t>
            </a:r>
            <a:r>
              <a:rPr lang="en-IN" sz="4351" b="1" dirty="0">
                <a:solidFill>
                  <a:srgbClr val="C00000"/>
                </a:solidFill>
                <a:latin typeface="Times New Roman"/>
                <a:cs typeface="Times New Roman"/>
              </a:rPr>
              <a:t>M</a:t>
            </a:r>
            <a:r>
              <a:rPr lang="en-IN" sz="4351" b="1" spc="-109" dirty="0">
                <a:solidFill>
                  <a:srgbClr val="C00000"/>
                </a:solidFill>
                <a:latin typeface="Times New Roman"/>
                <a:cs typeface="Times New Roman"/>
              </a:rPr>
              <a:t> </a:t>
            </a:r>
            <a:r>
              <a:rPr lang="en-IN" sz="4351" b="1" dirty="0">
                <a:solidFill>
                  <a:srgbClr val="C00000"/>
                </a:solidFill>
                <a:latin typeface="Times New Roman"/>
                <a:cs typeface="Times New Roman"/>
              </a:rPr>
              <a:t>Ramakrishna</a:t>
            </a:r>
            <a:r>
              <a:rPr lang="en-IN" sz="4351" b="1" spc="54" dirty="0">
                <a:solidFill>
                  <a:srgbClr val="C00000"/>
                </a:solidFill>
                <a:latin typeface="Times New Roman"/>
                <a:cs typeface="Times New Roman"/>
              </a:rPr>
              <a:t> </a:t>
            </a:r>
            <a:r>
              <a:rPr lang="en-IN" sz="4351" b="1" dirty="0">
                <a:solidFill>
                  <a:srgbClr val="C00000"/>
                </a:solidFill>
                <a:latin typeface="Times New Roman"/>
                <a:cs typeface="Times New Roman"/>
              </a:rPr>
              <a:t>Raju</a:t>
            </a:r>
            <a:r>
              <a:rPr lang="en-IN" sz="4351" b="1" spc="-23" dirty="0">
                <a:solidFill>
                  <a:srgbClr val="C00000"/>
                </a:solidFill>
                <a:latin typeface="Times New Roman"/>
                <a:cs typeface="Times New Roman"/>
              </a:rPr>
              <a:t> </a:t>
            </a:r>
            <a:r>
              <a:rPr lang="en-IN" sz="2409" b="1" spc="-16" dirty="0">
                <a:solidFill>
                  <a:srgbClr val="C00000"/>
                </a:solidFill>
                <a:latin typeface="Times New Roman"/>
                <a:cs typeface="Times New Roman"/>
              </a:rPr>
              <a:t>M.Tech</a:t>
            </a:r>
            <a:endParaRPr lang="en-IN" sz="2409" dirty="0">
              <a:latin typeface="Times New Roman"/>
              <a:cs typeface="Times New Roman"/>
            </a:endParaRPr>
          </a:p>
        </p:txBody>
      </p:sp>
      <p:sp>
        <p:nvSpPr>
          <p:cNvPr id="3" name="object 3"/>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01</a:t>
            </a:r>
            <a:endParaRPr sz="1787" dirty="0">
              <a:latin typeface="Calibri"/>
              <a:cs typeface="Calibri"/>
            </a:endParaRPr>
          </a:p>
        </p:txBody>
      </p:sp>
      <p:sp>
        <p:nvSpPr>
          <p:cNvPr id="4" name="object 4"/>
          <p:cNvSpPr txBox="1"/>
          <p:nvPr/>
        </p:nvSpPr>
        <p:spPr>
          <a:xfrm>
            <a:off x="3878385" y="394220"/>
            <a:ext cx="12028769" cy="2901206"/>
          </a:xfrm>
          <a:prstGeom prst="rect">
            <a:avLst/>
          </a:prstGeom>
        </p:spPr>
        <p:txBody>
          <a:bodyPr vert="horz" wrap="square" lIns="0" tIns="22696" rIns="0" bIns="0" rtlCol="0">
            <a:spAutoFit/>
          </a:bodyPr>
          <a:lstStyle/>
          <a:p>
            <a:pPr algn="ctr">
              <a:lnSpc>
                <a:spcPts val="3730"/>
              </a:lnSpc>
              <a:spcBef>
                <a:spcPts val="177"/>
              </a:spcBef>
            </a:pPr>
            <a:r>
              <a:rPr sz="2800" b="1" spc="-62" dirty="0">
                <a:solidFill>
                  <a:srgbClr val="C00000"/>
                </a:solidFill>
                <a:latin typeface="Times New Roman" panose="02020603050405020304" pitchFamily="18" charset="0"/>
                <a:cs typeface="Times New Roman" panose="02020603050405020304" pitchFamily="18" charset="0"/>
              </a:rPr>
              <a:t>SRINIVASA</a:t>
            </a:r>
            <a:r>
              <a:rPr sz="2800" b="1" spc="-194"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INSTITUTE</a:t>
            </a:r>
            <a:r>
              <a:rPr sz="2800" b="1" spc="-31"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OF</a:t>
            </a:r>
            <a:r>
              <a:rPr sz="2800" b="1" spc="-177" dirty="0">
                <a:solidFill>
                  <a:srgbClr val="C00000"/>
                </a:solidFill>
                <a:latin typeface="Times New Roman" panose="02020603050405020304" pitchFamily="18" charset="0"/>
                <a:cs typeface="Times New Roman" panose="02020603050405020304" pitchFamily="18" charset="0"/>
              </a:rPr>
              <a:t> </a:t>
            </a:r>
            <a:r>
              <a:rPr sz="2800" b="1" spc="-16" dirty="0">
                <a:solidFill>
                  <a:srgbClr val="C00000"/>
                </a:solidFill>
                <a:latin typeface="Times New Roman" panose="02020603050405020304" pitchFamily="18" charset="0"/>
                <a:cs typeface="Times New Roman" panose="02020603050405020304" pitchFamily="18" charset="0"/>
              </a:rPr>
              <a:t>ENGINEERING</a:t>
            </a:r>
            <a:r>
              <a:rPr sz="2800" b="1" spc="-194"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AND</a:t>
            </a:r>
            <a:r>
              <a:rPr sz="2800" b="1" spc="-31" dirty="0">
                <a:solidFill>
                  <a:srgbClr val="C00000"/>
                </a:solidFill>
                <a:latin typeface="Times New Roman" panose="02020603050405020304" pitchFamily="18" charset="0"/>
                <a:cs typeface="Times New Roman" panose="02020603050405020304" pitchFamily="18" charset="0"/>
              </a:rPr>
              <a:t> </a:t>
            </a:r>
            <a:r>
              <a:rPr sz="2800" b="1" spc="-16" dirty="0">
                <a:solidFill>
                  <a:srgbClr val="C00000"/>
                </a:solidFill>
                <a:latin typeface="Times New Roman" panose="02020603050405020304" pitchFamily="18" charset="0"/>
                <a:cs typeface="Times New Roman" panose="02020603050405020304" pitchFamily="18" charset="0"/>
              </a:rPr>
              <a:t>TECHNOLOGY</a:t>
            </a:r>
            <a:endParaRPr sz="2800" dirty="0">
              <a:latin typeface="Times New Roman" panose="02020603050405020304" pitchFamily="18" charset="0"/>
              <a:cs typeface="Times New Roman" panose="02020603050405020304" pitchFamily="18" charset="0"/>
            </a:endParaRPr>
          </a:p>
          <a:p>
            <a:pPr algn="ctr">
              <a:lnSpc>
                <a:spcPts val="3357"/>
              </a:lnSpc>
            </a:pPr>
            <a:r>
              <a:rPr sz="2600" b="1" dirty="0">
                <a:solidFill>
                  <a:srgbClr val="2E5496"/>
                </a:solidFill>
                <a:latin typeface="Times New Roman" panose="02020603050405020304" pitchFamily="18" charset="0"/>
                <a:cs typeface="Times New Roman" panose="02020603050405020304" pitchFamily="18" charset="0"/>
              </a:rPr>
              <a:t>(UGC</a:t>
            </a:r>
            <a:r>
              <a:rPr sz="2600" b="1" spc="-39" dirty="0">
                <a:solidFill>
                  <a:srgbClr val="2E5496"/>
                </a:solidFill>
                <a:latin typeface="Times New Roman" panose="02020603050405020304" pitchFamily="18" charset="0"/>
                <a:cs typeface="Times New Roman" panose="02020603050405020304" pitchFamily="18" charset="0"/>
              </a:rPr>
              <a:t> </a:t>
            </a:r>
            <a:r>
              <a:rPr sz="2600" b="1" dirty="0">
                <a:solidFill>
                  <a:srgbClr val="2E5496"/>
                </a:solidFill>
                <a:latin typeface="Times New Roman" panose="02020603050405020304" pitchFamily="18" charset="0"/>
                <a:cs typeface="Times New Roman" panose="02020603050405020304" pitchFamily="18" charset="0"/>
              </a:rPr>
              <a:t>–</a:t>
            </a:r>
            <a:r>
              <a:rPr sz="2600" b="1" spc="-148" dirty="0">
                <a:solidFill>
                  <a:srgbClr val="2E5496"/>
                </a:solidFill>
                <a:latin typeface="Times New Roman" panose="02020603050405020304" pitchFamily="18" charset="0"/>
                <a:cs typeface="Times New Roman" panose="02020603050405020304" pitchFamily="18" charset="0"/>
              </a:rPr>
              <a:t> </a:t>
            </a:r>
            <a:r>
              <a:rPr sz="2600" b="1" dirty="0">
                <a:solidFill>
                  <a:srgbClr val="2E5496"/>
                </a:solidFill>
                <a:latin typeface="Times New Roman" panose="02020603050405020304" pitchFamily="18" charset="0"/>
                <a:cs typeface="Times New Roman" panose="02020603050405020304" pitchFamily="18" charset="0"/>
              </a:rPr>
              <a:t>Autonomous </a:t>
            </a:r>
            <a:r>
              <a:rPr sz="2600" b="1" spc="-16" dirty="0">
                <a:solidFill>
                  <a:srgbClr val="2E5496"/>
                </a:solidFill>
                <a:latin typeface="Times New Roman" panose="02020603050405020304" pitchFamily="18" charset="0"/>
                <a:cs typeface="Times New Roman" panose="02020603050405020304" pitchFamily="18" charset="0"/>
              </a:rPr>
              <a:t>Institution)</a:t>
            </a:r>
            <a:endParaRPr sz="2600" dirty="0">
              <a:latin typeface="Times New Roman" panose="02020603050405020304" pitchFamily="18" charset="0"/>
              <a:cs typeface="Times New Roman" panose="02020603050405020304" pitchFamily="18" charset="0"/>
            </a:endParaRPr>
          </a:p>
          <a:p>
            <a:pPr marR="9869" algn="ctr">
              <a:spcBef>
                <a:spcPts val="8"/>
              </a:spcBef>
            </a:pPr>
            <a:r>
              <a:rPr sz="2600" dirty="0">
                <a:latin typeface="Times New Roman" panose="02020603050405020304" pitchFamily="18" charset="0"/>
                <a:cs typeface="Times New Roman" panose="02020603050405020304" pitchFamily="18" charset="0"/>
              </a:rPr>
              <a:t>(Approved</a:t>
            </a:r>
            <a:r>
              <a:rPr sz="2600" spc="-7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AICTE,</a:t>
            </a:r>
            <a:r>
              <a:rPr sz="2600" spc="-23"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Permanently</a:t>
            </a:r>
            <a:r>
              <a:rPr sz="2600" spc="-54"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affiliated</a:t>
            </a:r>
            <a:r>
              <a:rPr sz="2600" spc="-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10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JNTUK,</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Kakinada,</a:t>
            </a:r>
            <a:r>
              <a:rPr sz="2600" spc="-23"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ISO</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9001:</a:t>
            </a:r>
            <a:r>
              <a:rPr sz="2600" spc="-1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2015</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certified</a:t>
            </a:r>
            <a:r>
              <a:rPr sz="2600" spc="-62"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Institution)</a:t>
            </a:r>
            <a:endParaRPr sz="2600" dirty="0">
              <a:latin typeface="Times New Roman" panose="02020603050405020304" pitchFamily="18" charset="0"/>
              <a:cs typeface="Times New Roman" panose="02020603050405020304" pitchFamily="18" charset="0"/>
            </a:endParaRPr>
          </a:p>
          <a:p>
            <a:pPr marR="1974" algn="ctr">
              <a:spcBef>
                <a:spcPts val="16"/>
              </a:spcBef>
            </a:pPr>
            <a:r>
              <a:rPr sz="2600" spc="-16" dirty="0">
                <a:latin typeface="Times New Roman" panose="02020603050405020304" pitchFamily="18" charset="0"/>
                <a:cs typeface="Times New Roman" panose="02020603050405020304" pitchFamily="18" charset="0"/>
              </a:rPr>
              <a:t>(Accredited</a:t>
            </a:r>
            <a:r>
              <a:rPr sz="2600" spc="-7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NAAC</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with</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6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Grade;</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Recognized</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UGC</a:t>
            </a:r>
            <a:r>
              <a:rPr sz="2600" spc="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under</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sections</a:t>
            </a:r>
            <a:r>
              <a:rPr sz="2600" spc="-47"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2(f)</a:t>
            </a:r>
            <a:r>
              <a:rPr sz="2600" spc="-47"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&amp;</a:t>
            </a:r>
            <a:r>
              <a:rPr sz="2600" spc="-62"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12(B))</a:t>
            </a:r>
            <a:endParaRPr sz="2600" dirty="0">
              <a:latin typeface="Times New Roman" panose="02020603050405020304" pitchFamily="18" charset="0"/>
              <a:cs typeface="Times New Roman" panose="02020603050405020304" pitchFamily="18" charset="0"/>
            </a:endParaRPr>
          </a:p>
          <a:p>
            <a:pPr algn="ctr">
              <a:lnSpc>
                <a:spcPts val="2572"/>
              </a:lnSpc>
              <a:spcBef>
                <a:spcPts val="23"/>
              </a:spcBef>
            </a:pPr>
            <a:r>
              <a:rPr sz="2600" spc="-54" dirty="0">
                <a:latin typeface="Times New Roman" panose="02020603050405020304" pitchFamily="18" charset="0"/>
                <a:cs typeface="Times New Roman" panose="02020603050405020304" pitchFamily="18" charset="0"/>
              </a:rPr>
              <a:t>NH-</a:t>
            </a:r>
            <a:r>
              <a:rPr sz="2600" dirty="0">
                <a:latin typeface="Times New Roman" panose="02020603050405020304" pitchFamily="18" charset="0"/>
                <a:cs typeface="Times New Roman" panose="02020603050405020304" pitchFamily="18" charset="0"/>
              </a:rPr>
              <a:t>216,</a:t>
            </a:r>
            <a:r>
              <a:rPr sz="2600" spc="-101" dirty="0">
                <a:latin typeface="Times New Roman" panose="02020603050405020304" pitchFamily="18" charset="0"/>
                <a:cs typeface="Times New Roman" panose="02020603050405020304" pitchFamily="18" charset="0"/>
              </a:rPr>
              <a:t> </a:t>
            </a:r>
            <a:r>
              <a:rPr sz="2600" spc="-39" dirty="0">
                <a:latin typeface="Times New Roman" panose="02020603050405020304" pitchFamily="18" charset="0"/>
                <a:cs typeface="Times New Roman" panose="02020603050405020304" pitchFamily="18" charset="0"/>
              </a:rPr>
              <a:t>Amalapuram-</a:t>
            </a:r>
            <a:r>
              <a:rPr sz="2600" dirty="0">
                <a:latin typeface="Times New Roman" panose="02020603050405020304" pitchFamily="18" charset="0"/>
                <a:cs typeface="Times New Roman" panose="02020603050405020304" pitchFamily="18" charset="0"/>
              </a:rPr>
              <a:t>Kakinada</a:t>
            </a:r>
            <a:r>
              <a:rPr sz="2600" spc="218" dirty="0">
                <a:latin typeface="Times New Roman" panose="02020603050405020304" pitchFamily="18" charset="0"/>
                <a:cs typeface="Times New Roman" panose="02020603050405020304" pitchFamily="18" charset="0"/>
              </a:rPr>
              <a:t> </a:t>
            </a:r>
            <a:r>
              <a:rPr sz="2600" spc="-31" dirty="0">
                <a:latin typeface="Times New Roman" panose="02020603050405020304" pitchFamily="18" charset="0"/>
                <a:cs typeface="Times New Roman" panose="02020603050405020304" pitchFamily="18" charset="0"/>
              </a:rPr>
              <a:t>Highway,</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Cheyyeru</a:t>
            </a:r>
            <a:r>
              <a:rPr sz="2600" spc="15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(V),</a:t>
            </a:r>
            <a:r>
              <a:rPr sz="2600" spc="-85"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AMALAPURAM</a:t>
            </a:r>
            <a:r>
              <a:rPr sz="2600" spc="-78" dirty="0">
                <a:latin typeface="Times New Roman" panose="02020603050405020304" pitchFamily="18" charset="0"/>
                <a:cs typeface="Times New Roman" panose="02020603050405020304" pitchFamily="18" charset="0"/>
              </a:rPr>
              <a:t> </a:t>
            </a:r>
            <a:r>
              <a:rPr sz="2600" spc="-70" dirty="0">
                <a:latin typeface="Times New Roman" panose="02020603050405020304" pitchFamily="18" charset="0"/>
                <a:cs typeface="Times New Roman" panose="02020603050405020304" pitchFamily="18" charset="0"/>
              </a:rPr>
              <a:t>-</a:t>
            </a:r>
            <a:r>
              <a:rPr sz="2600" spc="-16" dirty="0">
                <a:latin typeface="Times New Roman" panose="02020603050405020304" pitchFamily="18" charset="0"/>
                <a:cs typeface="Times New Roman" panose="02020603050405020304" pitchFamily="18" charset="0"/>
              </a:rPr>
              <a:t>533216.</a:t>
            </a:r>
            <a:endParaRPr sz="2600" dirty="0">
              <a:latin typeface="Times New Roman" panose="02020603050405020304" pitchFamily="18" charset="0"/>
              <a:cs typeface="Times New Roman" panose="02020603050405020304" pitchFamily="18" charset="0"/>
            </a:endParaRPr>
          </a:p>
          <a:p>
            <a:pPr algn="ctr">
              <a:lnSpc>
                <a:spcPts val="3691"/>
              </a:lnSpc>
            </a:pPr>
            <a:r>
              <a:rPr sz="2600" b="1" spc="-47" dirty="0">
                <a:solidFill>
                  <a:srgbClr val="FF0000"/>
                </a:solidFill>
                <a:latin typeface="Times New Roman" panose="02020603050405020304" pitchFamily="18" charset="0"/>
                <a:cs typeface="Times New Roman" panose="02020603050405020304" pitchFamily="18" charset="0"/>
              </a:rPr>
              <a:t>DEPARTMENT</a:t>
            </a:r>
            <a:r>
              <a:rPr sz="2600" b="1" spc="-132"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OF</a:t>
            </a:r>
            <a:r>
              <a:rPr sz="2600" b="1" spc="-177"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COMPUTER</a:t>
            </a:r>
            <a:r>
              <a:rPr sz="2600" b="1" spc="-194" dirty="0">
                <a:solidFill>
                  <a:srgbClr val="FF0000"/>
                </a:solidFill>
                <a:latin typeface="Times New Roman" panose="02020603050405020304" pitchFamily="18" charset="0"/>
                <a:cs typeface="Times New Roman" panose="02020603050405020304" pitchFamily="18" charset="0"/>
              </a:rPr>
              <a:t> </a:t>
            </a:r>
            <a:r>
              <a:rPr sz="2600" b="1" spc="-16" dirty="0">
                <a:solidFill>
                  <a:srgbClr val="FF0000"/>
                </a:solidFill>
                <a:latin typeface="Times New Roman" panose="02020603050405020304" pitchFamily="18" charset="0"/>
                <a:cs typeface="Times New Roman" panose="02020603050405020304" pitchFamily="18" charset="0"/>
              </a:rPr>
              <a:t>SCIENCE</a:t>
            </a:r>
            <a:r>
              <a:rPr sz="2600" b="1" spc="-124"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AND</a:t>
            </a:r>
            <a:r>
              <a:rPr sz="2600" b="1" spc="31" dirty="0">
                <a:solidFill>
                  <a:srgbClr val="FF0000"/>
                </a:solidFill>
                <a:latin typeface="Times New Roman" panose="02020603050405020304" pitchFamily="18" charset="0"/>
                <a:cs typeface="Times New Roman" panose="02020603050405020304" pitchFamily="18" charset="0"/>
              </a:rPr>
              <a:t> </a:t>
            </a:r>
            <a:r>
              <a:rPr sz="2600" b="1" spc="-16" dirty="0">
                <a:solidFill>
                  <a:srgbClr val="FF0000"/>
                </a:solidFill>
                <a:latin typeface="Times New Roman" panose="02020603050405020304" pitchFamily="18" charset="0"/>
                <a:cs typeface="Times New Roman" panose="02020603050405020304" pitchFamily="18" charset="0"/>
              </a:rPr>
              <a:t>ENGINEERING</a:t>
            </a:r>
            <a:endParaRPr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15975742" y="615600"/>
            <a:ext cx="3466819" cy="743793"/>
          </a:xfrm>
          <a:prstGeom prst="rect">
            <a:avLst/>
          </a:prstGeom>
          <a:ln w="9525">
            <a:solidFill>
              <a:srgbClr val="000000"/>
            </a:solidFill>
          </a:ln>
        </p:spPr>
        <p:txBody>
          <a:bodyPr vert="horz" wrap="square" lIns="0" tIns="0" rIns="0" bIns="0" rtlCol="0">
            <a:spAutoFit/>
          </a:bodyPr>
          <a:lstStyle/>
          <a:p>
            <a:pPr marL="169739">
              <a:lnSpc>
                <a:spcPts val="5789"/>
              </a:lnSpc>
            </a:pPr>
            <a:r>
              <a:rPr sz="5595" b="1" spc="-85" dirty="0">
                <a:solidFill>
                  <a:srgbClr val="2E5496"/>
                </a:solidFill>
                <a:latin typeface="Times New Roman"/>
                <a:cs typeface="Times New Roman"/>
              </a:rPr>
              <a:t>BATCH-</a:t>
            </a:r>
            <a:r>
              <a:rPr lang="en-US" sz="5595" b="1" spc="-78" dirty="0">
                <a:solidFill>
                  <a:srgbClr val="2E5496"/>
                </a:solidFill>
                <a:latin typeface="Times New Roman"/>
                <a:cs typeface="Times New Roman"/>
              </a:rPr>
              <a:t>9</a:t>
            </a:r>
            <a:endParaRPr sz="5595" dirty="0">
              <a:latin typeface="Times New Roman"/>
              <a:cs typeface="Times New Roman"/>
            </a:endParaRPr>
          </a:p>
        </p:txBody>
      </p:sp>
      <p:pic>
        <p:nvPicPr>
          <p:cNvPr id="6" name="object 6"/>
          <p:cNvPicPr/>
          <p:nvPr/>
        </p:nvPicPr>
        <p:blipFill>
          <a:blip r:embed="rId2" cstate="print"/>
          <a:stretch>
            <a:fillRect/>
          </a:stretch>
        </p:blipFill>
        <p:spPr>
          <a:xfrm>
            <a:off x="0" y="0"/>
            <a:ext cx="2373187" cy="2096077"/>
          </a:xfrm>
          <a:prstGeom prst="rect">
            <a:avLst/>
          </a:prstGeom>
        </p:spPr>
      </p:pic>
      <p:sp>
        <p:nvSpPr>
          <p:cNvPr id="7" name="object 7"/>
          <p:cNvSpPr txBox="1"/>
          <p:nvPr/>
        </p:nvSpPr>
        <p:spPr>
          <a:xfrm>
            <a:off x="8051104" y="7492533"/>
            <a:ext cx="3937549" cy="596923"/>
          </a:xfrm>
          <a:prstGeom prst="rect">
            <a:avLst/>
          </a:prstGeom>
        </p:spPr>
        <p:txBody>
          <a:bodyPr vert="horz" wrap="square" lIns="0" tIns="22698" rIns="0" bIns="0" rtlCol="0">
            <a:spAutoFit/>
          </a:bodyPr>
          <a:lstStyle/>
          <a:p>
            <a:pPr marL="19737">
              <a:spcBef>
                <a:spcPts val="179"/>
              </a:spcBef>
            </a:pPr>
            <a:r>
              <a:rPr sz="3730" b="1" dirty="0">
                <a:solidFill>
                  <a:srgbClr val="C00000"/>
                </a:solidFill>
                <a:latin typeface="Times New Roman"/>
                <a:cs typeface="Times New Roman"/>
              </a:rPr>
              <a:t>Assistant</a:t>
            </a:r>
            <a:r>
              <a:rPr sz="3730" b="1" spc="-93" dirty="0">
                <a:solidFill>
                  <a:srgbClr val="C00000"/>
                </a:solidFill>
                <a:latin typeface="Times New Roman"/>
                <a:cs typeface="Times New Roman"/>
              </a:rPr>
              <a:t> </a:t>
            </a:r>
            <a:r>
              <a:rPr sz="3730" b="1" spc="-16" dirty="0">
                <a:solidFill>
                  <a:srgbClr val="C00000"/>
                </a:solidFill>
                <a:latin typeface="Times New Roman"/>
                <a:cs typeface="Times New Roman"/>
              </a:rPr>
              <a:t>Professor</a:t>
            </a:r>
            <a:endParaRPr sz="3730" dirty="0">
              <a:latin typeface="Times New Roman"/>
              <a:cs typeface="Times New Roman"/>
            </a:endParaRPr>
          </a:p>
        </p:txBody>
      </p:sp>
      <p:sp>
        <p:nvSpPr>
          <p:cNvPr id="8" name="object 8"/>
          <p:cNvSpPr txBox="1"/>
          <p:nvPr/>
        </p:nvSpPr>
        <p:spPr>
          <a:xfrm>
            <a:off x="12178130" y="8061337"/>
            <a:ext cx="6772780" cy="2081110"/>
          </a:xfrm>
          <a:prstGeom prst="rect">
            <a:avLst/>
          </a:prstGeom>
        </p:spPr>
        <p:txBody>
          <a:bodyPr vert="horz" wrap="square" lIns="0" tIns="22696" rIns="0" bIns="0" rtlCol="0">
            <a:spAutoFit/>
          </a:bodyPr>
          <a:lstStyle/>
          <a:p>
            <a:pPr marL="19737" marR="7895">
              <a:lnSpc>
                <a:spcPct val="100099"/>
              </a:lnSpc>
              <a:spcBef>
                <a:spcPts val="177"/>
              </a:spcBef>
            </a:pPr>
            <a:r>
              <a:rPr sz="3108" b="1" dirty="0">
                <a:latin typeface="Times New Roman"/>
                <a:cs typeface="Times New Roman"/>
              </a:rPr>
              <a:t>Presented</a:t>
            </a:r>
            <a:r>
              <a:rPr sz="3108" b="1" spc="-177" dirty="0">
                <a:latin typeface="Times New Roman"/>
                <a:cs typeface="Times New Roman"/>
              </a:rPr>
              <a:t> </a:t>
            </a:r>
            <a:r>
              <a:rPr sz="3108" b="1" spc="-39" dirty="0">
                <a:latin typeface="Times New Roman"/>
                <a:cs typeface="Times New Roman"/>
              </a:rPr>
              <a:t>by:</a:t>
            </a:r>
            <a:endParaRPr lang="en-US" sz="3108" b="1" spc="-39" dirty="0">
              <a:latin typeface="Times New Roman"/>
              <a:cs typeface="Times New Roman"/>
            </a:endParaRPr>
          </a:p>
          <a:p>
            <a:pPr marL="19737" marR="7895">
              <a:lnSpc>
                <a:spcPct val="100099"/>
              </a:lnSpc>
              <a:spcBef>
                <a:spcPts val="177"/>
              </a:spcBef>
            </a:pPr>
            <a:r>
              <a:rPr lang="en-IN" sz="2400" dirty="0"/>
              <a:t>B.HEMA LAKSHMI(226N1A0512)</a:t>
            </a:r>
          </a:p>
          <a:p>
            <a:pPr marL="19737" marR="7895">
              <a:lnSpc>
                <a:spcPct val="100099"/>
              </a:lnSpc>
              <a:spcBef>
                <a:spcPts val="177"/>
              </a:spcBef>
            </a:pPr>
            <a:r>
              <a:rPr lang="en-IN" sz="2400" dirty="0"/>
              <a:t> A.SATYA SIRI CHANDANA(226N1A0502) </a:t>
            </a:r>
          </a:p>
          <a:p>
            <a:pPr marL="19737" marR="7895">
              <a:lnSpc>
                <a:spcPct val="100099"/>
              </a:lnSpc>
              <a:spcBef>
                <a:spcPts val="177"/>
              </a:spcBef>
            </a:pPr>
            <a:r>
              <a:rPr lang="en-IN" sz="2400" dirty="0"/>
              <a:t>G. SATYA SINDHUR(226N1A0544) </a:t>
            </a:r>
          </a:p>
          <a:p>
            <a:pPr marL="19737" marR="7895">
              <a:lnSpc>
                <a:spcPct val="100099"/>
              </a:lnSpc>
              <a:spcBef>
                <a:spcPts val="177"/>
              </a:spcBef>
            </a:pPr>
            <a:r>
              <a:rPr lang="en-IN" sz="2400" dirty="0"/>
              <a:t>CH. BABI SRI VENKAT(226N1A0518)</a:t>
            </a:r>
            <a:r>
              <a:rPr sz="2400" b="1" spc="-39" dirty="0">
                <a:latin typeface="Times New Roman"/>
                <a:cs typeface="Times New Roman"/>
              </a:rPr>
              <a:t> </a:t>
            </a:r>
            <a:endParaRPr sz="3108" dirty="0">
              <a:latin typeface="Times New Roman"/>
              <a:cs typeface="Times New Roman"/>
            </a:endParaRPr>
          </a:p>
        </p:txBody>
      </p:sp>
      <p:sp>
        <p:nvSpPr>
          <p:cNvPr id="9" name="object 9"/>
          <p:cNvSpPr txBox="1"/>
          <p:nvPr/>
        </p:nvSpPr>
        <p:spPr>
          <a:xfrm>
            <a:off x="1289336" y="10991558"/>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0" name="object 10"/>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699250" y="454940"/>
            <a:ext cx="10915355" cy="1122742"/>
          </a:xfrm>
          <a:prstGeom prst="rect">
            <a:avLst/>
          </a:prstGeom>
        </p:spPr>
        <p:txBody>
          <a:bodyPr vert="horz" wrap="square" lIns="0" tIns="14604" rIns="0" bIns="0" rtlCol="0">
            <a:spAutoFit/>
          </a:bodyPr>
          <a:lstStyle/>
          <a:p>
            <a:pPr marL="19050">
              <a:lnSpc>
                <a:spcPct val="100000"/>
              </a:lnSpc>
              <a:spcBef>
                <a:spcPts val="114"/>
              </a:spcBef>
            </a:pPr>
            <a:r>
              <a:rPr lang="en-IN" sz="7200" b="1" spc="240" dirty="0">
                <a:solidFill>
                  <a:schemeClr val="tx1"/>
                </a:solidFill>
                <a:latin typeface="Times New Roman" panose="02020603050405020304" pitchFamily="18" charset="0"/>
                <a:cs typeface="Times New Roman" panose="02020603050405020304" pitchFamily="18" charset="0"/>
              </a:rPr>
              <a:t>CONTENTS</a:t>
            </a:r>
            <a:endParaRPr lang="en-IN" sz="7200" b="1" dirty="0">
              <a:solidFill>
                <a:schemeClr val="tx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4260850" y="2073275"/>
            <a:ext cx="10393152" cy="10840788"/>
          </a:xfrm>
          <a:prstGeom prst="rect">
            <a:avLst/>
          </a:prstGeom>
        </p:spPr>
        <p:txBody>
          <a:bodyPr vert="horz" wrap="square" lIns="0" tIns="17145" rIns="0" bIns="0" rtlCol="0">
            <a:spAutoFit/>
          </a:bodyPr>
          <a:lstStyle/>
          <a:p>
            <a:pPr marL="475615" indent="-457200" algn="just">
              <a:lnSpc>
                <a:spcPct val="150000"/>
              </a:lnSpc>
              <a:spcBef>
                <a:spcPts val="135"/>
              </a:spcBef>
              <a:buFont typeface="Wingdings" panose="05000000000000000000" pitchFamily="2" charset="2"/>
              <a:buChar char="Ø"/>
            </a:pPr>
            <a:r>
              <a:rPr sz="4000" b="1" spc="-150" dirty="0">
                <a:solidFill>
                  <a:schemeClr val="tx1"/>
                </a:solidFill>
                <a:latin typeface="Times New Roman" panose="02020603050405020304" pitchFamily="18" charset="0"/>
                <a:cs typeface="Times New Roman" panose="02020603050405020304" pitchFamily="18" charset="0"/>
              </a:rPr>
              <a:t> </a:t>
            </a:r>
            <a:r>
              <a:rPr sz="4000" b="1" spc="360" dirty="0">
                <a:solidFill>
                  <a:schemeClr val="tx1"/>
                </a:solidFill>
                <a:latin typeface="Times New Roman" panose="02020603050405020304" pitchFamily="18" charset="0"/>
                <a:cs typeface="Times New Roman" panose="02020603050405020304" pitchFamily="18" charset="0"/>
              </a:rPr>
              <a:t>Abstract</a:t>
            </a:r>
            <a:endParaRPr lang="en-US" sz="4000" b="1" spc="360" dirty="0">
              <a:solidFill>
                <a:schemeClr val="tx1"/>
              </a:solidFill>
              <a:latin typeface="Times New Roman" panose="02020603050405020304" pitchFamily="18" charset="0"/>
              <a:cs typeface="Times New Roman" panose="02020603050405020304" pitchFamily="18" charset="0"/>
            </a:endParaRPr>
          </a:p>
          <a:p>
            <a:pPr marL="475615" indent="-457200" algn="just">
              <a:lnSpc>
                <a:spcPct val="150000"/>
              </a:lnSpc>
              <a:spcBef>
                <a:spcPts val="135"/>
              </a:spcBef>
              <a:buFont typeface="Wingdings" panose="05000000000000000000" pitchFamily="2" charset="2"/>
              <a:buChar char="Ø"/>
            </a:pPr>
            <a:r>
              <a:rPr lang="en-IN" sz="4000" b="1" spc="330" dirty="0">
                <a:solidFill>
                  <a:schemeClr val="tx1"/>
                </a:solidFill>
                <a:latin typeface="Times New Roman" panose="02020603050405020304" pitchFamily="18" charset="0"/>
                <a:cs typeface="Times New Roman" panose="02020603050405020304" pitchFamily="18" charset="0"/>
              </a:rPr>
              <a:t>Objectives</a:t>
            </a:r>
          </a:p>
          <a:p>
            <a:pPr marL="470535" indent="-457200" algn="just">
              <a:lnSpc>
                <a:spcPct val="150000"/>
              </a:lnSpc>
              <a:spcBef>
                <a:spcPts val="115"/>
              </a:spcBef>
              <a:buFont typeface="Wingdings" panose="05000000000000000000" pitchFamily="2" charset="2"/>
              <a:buChar char="Ø"/>
            </a:pPr>
            <a:r>
              <a:rPr lang="en-IN" sz="4000" b="1" spc="-325" dirty="0">
                <a:solidFill>
                  <a:schemeClr val="tx1"/>
                </a:solidFill>
                <a:latin typeface="Times New Roman" panose="02020603050405020304" pitchFamily="18" charset="0"/>
                <a:cs typeface="Times New Roman" panose="02020603050405020304" pitchFamily="18" charset="0"/>
              </a:rPr>
              <a:t> </a:t>
            </a:r>
            <a:r>
              <a:rPr lang="en-IN" sz="4000" b="1" spc="225" dirty="0">
                <a:solidFill>
                  <a:schemeClr val="tx1"/>
                </a:solidFill>
                <a:latin typeface="Times New Roman" panose="02020603050405020304" pitchFamily="18" charset="0"/>
                <a:cs typeface="Times New Roman" panose="02020603050405020304" pitchFamily="18" charset="0"/>
              </a:rPr>
              <a:t>Introduction</a:t>
            </a:r>
          </a:p>
          <a:p>
            <a:pPr marL="295275" indent="-285750" algn="just">
              <a:lnSpc>
                <a:spcPct val="150000"/>
              </a:lnSpc>
              <a:buSzPct val="96428"/>
              <a:buFont typeface="Wingdings"/>
              <a:buChar char=""/>
              <a:tabLst>
                <a:tab pos="295275" algn="l"/>
              </a:tabLst>
            </a:pPr>
            <a:r>
              <a:rPr lang="en-US" sz="4000" b="1" dirty="0">
                <a:latin typeface="Times New Roman"/>
                <a:cs typeface="Times New Roman"/>
              </a:rPr>
              <a:t>Literature</a:t>
            </a:r>
            <a:r>
              <a:rPr lang="en-US" sz="4000" b="1" spc="-130" dirty="0">
                <a:latin typeface="Times New Roman"/>
                <a:cs typeface="Times New Roman"/>
              </a:rPr>
              <a:t> </a:t>
            </a:r>
            <a:r>
              <a:rPr lang="en-US" sz="4000" b="1" spc="-10" dirty="0">
                <a:latin typeface="Times New Roman"/>
                <a:cs typeface="Times New Roman"/>
              </a:rPr>
              <a:t>Survey</a:t>
            </a:r>
            <a:endParaRPr lang="en-US" sz="4000" dirty="0">
              <a:latin typeface="Times New Roman"/>
              <a:cs typeface="Times New Roman"/>
            </a:endParaRPr>
          </a:p>
          <a:p>
            <a:pPr marL="295910" indent="-285750" algn="just">
              <a:lnSpc>
                <a:spcPct val="150000"/>
              </a:lnSpc>
              <a:buSzPct val="96428"/>
              <a:buFont typeface="Wingdings"/>
              <a:buChar char=""/>
              <a:tabLst>
                <a:tab pos="295910" algn="l"/>
              </a:tabLst>
            </a:pPr>
            <a:r>
              <a:rPr lang="en-US" sz="4000" b="1" dirty="0">
                <a:latin typeface="Times New Roman"/>
                <a:cs typeface="Times New Roman"/>
              </a:rPr>
              <a:t>Existing</a:t>
            </a:r>
            <a:r>
              <a:rPr lang="en-US" sz="4000" b="1" spc="-50" dirty="0">
                <a:latin typeface="Times New Roman"/>
                <a:cs typeface="Times New Roman"/>
              </a:rPr>
              <a:t> </a:t>
            </a:r>
            <a:r>
              <a:rPr lang="en-US" sz="4000" b="1" spc="-10" dirty="0">
                <a:latin typeface="Times New Roman"/>
                <a:cs typeface="Times New Roman"/>
              </a:rPr>
              <a:t>System</a:t>
            </a:r>
            <a:endParaRPr lang="en-US" sz="4000" dirty="0">
              <a:latin typeface="Times New Roman"/>
              <a:cs typeface="Times New Roman"/>
            </a:endParaRPr>
          </a:p>
          <a:p>
            <a:pPr marL="295910" indent="-285750" algn="just">
              <a:lnSpc>
                <a:spcPct val="150000"/>
              </a:lnSpc>
              <a:spcBef>
                <a:spcPts val="25"/>
              </a:spcBef>
              <a:buSzPct val="96428"/>
              <a:buFont typeface="Wingdings"/>
              <a:buChar char=""/>
              <a:tabLst>
                <a:tab pos="295910" algn="l"/>
              </a:tabLst>
            </a:pPr>
            <a:r>
              <a:rPr lang="en-US" sz="4000" b="1" dirty="0">
                <a:latin typeface="Times New Roman"/>
                <a:cs typeface="Times New Roman"/>
              </a:rPr>
              <a:t>Proposed</a:t>
            </a:r>
            <a:r>
              <a:rPr lang="en-US" sz="4000" b="1" spc="-75" dirty="0">
                <a:latin typeface="Times New Roman"/>
                <a:cs typeface="Times New Roman"/>
              </a:rPr>
              <a:t> </a:t>
            </a:r>
            <a:r>
              <a:rPr lang="en-US" sz="4000" b="1" spc="-10" dirty="0">
                <a:latin typeface="Times New Roman"/>
                <a:cs typeface="Times New Roman"/>
              </a:rPr>
              <a:t>System</a:t>
            </a:r>
            <a:endParaRPr lang="en-US" sz="4000" dirty="0">
              <a:latin typeface="Times New Roman"/>
              <a:cs typeface="Times New Roman"/>
            </a:endParaRPr>
          </a:p>
          <a:p>
            <a:pPr marL="295275" indent="-285750" algn="just">
              <a:lnSpc>
                <a:spcPct val="150000"/>
              </a:lnSpc>
              <a:buSzPct val="96428"/>
              <a:buFont typeface="Wingdings"/>
              <a:buChar char=""/>
              <a:tabLst>
                <a:tab pos="295275" algn="l"/>
              </a:tabLst>
            </a:pPr>
            <a:r>
              <a:rPr lang="en-US" sz="4000" b="1" dirty="0">
                <a:latin typeface="Times New Roman"/>
                <a:cs typeface="Times New Roman"/>
              </a:rPr>
              <a:t>System</a:t>
            </a:r>
            <a:r>
              <a:rPr lang="en-US" sz="4000" b="1" spc="-110" dirty="0">
                <a:latin typeface="Times New Roman"/>
                <a:cs typeface="Times New Roman"/>
              </a:rPr>
              <a:t> </a:t>
            </a:r>
            <a:r>
              <a:rPr lang="en-US" sz="4000" b="1" dirty="0">
                <a:latin typeface="Times New Roman"/>
                <a:cs typeface="Times New Roman"/>
              </a:rPr>
              <a:t>Requirements</a:t>
            </a:r>
            <a:r>
              <a:rPr lang="en-US" sz="4000" b="1" spc="-40" dirty="0">
                <a:latin typeface="Times New Roman"/>
                <a:cs typeface="Times New Roman"/>
              </a:rPr>
              <a:t> </a:t>
            </a:r>
            <a:r>
              <a:rPr lang="en-US" sz="4000" b="1" dirty="0">
                <a:latin typeface="Times New Roman"/>
                <a:cs typeface="Times New Roman"/>
              </a:rPr>
              <a:t>and</a:t>
            </a:r>
            <a:r>
              <a:rPr lang="en-US" sz="4000" b="1" spc="-35" dirty="0">
                <a:latin typeface="Times New Roman"/>
                <a:cs typeface="Times New Roman"/>
              </a:rPr>
              <a:t> </a:t>
            </a:r>
            <a:r>
              <a:rPr lang="en-US" sz="4000" b="1" spc="-10" dirty="0">
                <a:latin typeface="Times New Roman"/>
                <a:cs typeface="Times New Roman"/>
              </a:rPr>
              <a:t>Specifications</a:t>
            </a:r>
          </a:p>
          <a:p>
            <a:pPr marL="295275" indent="-285750" algn="just">
              <a:lnSpc>
                <a:spcPct val="150000"/>
              </a:lnSpc>
              <a:buSzPct val="96428"/>
              <a:buFont typeface="Wingdings"/>
              <a:buChar char=""/>
              <a:tabLst>
                <a:tab pos="295275" algn="l"/>
              </a:tabLst>
            </a:pPr>
            <a:r>
              <a:rPr lang="en-IN" sz="4000" b="1" dirty="0">
                <a:latin typeface="Times New Roman" panose="02020603050405020304" pitchFamily="18" charset="0"/>
                <a:cs typeface="Times New Roman" panose="02020603050405020304" pitchFamily="18" charset="0"/>
              </a:rPr>
              <a:t>System Architecture</a:t>
            </a:r>
          </a:p>
          <a:p>
            <a:pPr marL="295275" indent="-285750" algn="just">
              <a:lnSpc>
                <a:spcPct val="150000"/>
              </a:lnSpc>
              <a:buSzPct val="96428"/>
              <a:buFont typeface="Wingdings"/>
              <a:buChar char=""/>
              <a:tabLst>
                <a:tab pos="295275" algn="l"/>
              </a:tabLst>
            </a:pPr>
            <a:r>
              <a:rPr lang="en-US" sz="4000" b="1" dirty="0">
                <a:latin typeface="Times New Roman" panose="02020603050405020304" pitchFamily="18" charset="0"/>
                <a:cs typeface="Times New Roman" panose="02020603050405020304" pitchFamily="18" charset="0"/>
              </a:rPr>
              <a:t>Algorithm </a:t>
            </a:r>
          </a:p>
          <a:p>
            <a:pPr marL="295275" indent="-285750" algn="just">
              <a:lnSpc>
                <a:spcPct val="150000"/>
              </a:lnSpc>
              <a:buSzPct val="96428"/>
              <a:buFont typeface="Wingdings"/>
              <a:buChar char=""/>
              <a:tabLst>
                <a:tab pos="295275" algn="l"/>
              </a:tabLst>
            </a:pPr>
            <a:endParaRPr lang="en-US" sz="4000" dirty="0">
              <a:latin typeface="Times New Roman"/>
              <a:cs typeface="Times New Roman"/>
            </a:endParaRPr>
          </a:p>
          <a:p>
            <a:pPr marL="470535" indent="-457200" algn="just">
              <a:lnSpc>
                <a:spcPct val="150000"/>
              </a:lnSpc>
              <a:spcBef>
                <a:spcPts val="115"/>
              </a:spcBef>
              <a:buFont typeface="Wingdings" panose="05000000000000000000" pitchFamily="2" charset="2"/>
              <a:buChar char="Ø"/>
            </a:pPr>
            <a:endParaRPr lang="en-IN" sz="4000" b="1" spc="225" dirty="0">
              <a:solidFill>
                <a:schemeClr val="tx1"/>
              </a:solidFill>
              <a:latin typeface="Times New Roman" panose="02020603050405020304" pitchFamily="18" charset="0"/>
              <a:cs typeface="Times New Roman" panose="02020603050405020304" pitchFamily="18" charset="0"/>
            </a:endParaRPr>
          </a:p>
          <a:p>
            <a:pPr marL="13335" algn="just">
              <a:lnSpc>
                <a:spcPct val="100000"/>
              </a:lnSpc>
              <a:spcBef>
                <a:spcPts val="115"/>
              </a:spcBef>
            </a:pPr>
            <a:endParaRPr lang="en-IN" sz="4000" b="1" spc="225" dirty="0">
              <a:solidFill>
                <a:schemeClr val="tx1"/>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1421881" y="5629798"/>
            <a:ext cx="3763645" cy="391774"/>
          </a:xfrm>
          <a:prstGeom prst="rect">
            <a:avLst/>
          </a:prstGeom>
        </p:spPr>
        <p:txBody>
          <a:bodyPr vert="horz" wrap="square" lIns="0" tIns="14605" rIns="0" bIns="0" rtlCol="0">
            <a:spAutoFit/>
          </a:bodyPr>
          <a:lstStyle/>
          <a:p>
            <a:pPr marL="13335">
              <a:lnSpc>
                <a:spcPct val="100000"/>
              </a:lnSpc>
              <a:spcBef>
                <a:spcPts val="115"/>
              </a:spcBef>
            </a:pPr>
            <a:endParaRPr sz="2450" dirty="0">
              <a:latin typeface="Calibri"/>
              <a:cs typeface="Calibri"/>
            </a:endParaRPr>
          </a:p>
        </p:txBody>
      </p:sp>
      <p:sp>
        <p:nvSpPr>
          <p:cNvPr id="6" name="object 6"/>
          <p:cNvSpPr txBox="1"/>
          <p:nvPr/>
        </p:nvSpPr>
        <p:spPr>
          <a:xfrm>
            <a:off x="1413651" y="8472643"/>
            <a:ext cx="3694429" cy="391774"/>
          </a:xfrm>
          <a:prstGeom prst="rect">
            <a:avLst/>
          </a:prstGeom>
        </p:spPr>
        <p:txBody>
          <a:bodyPr vert="horz" wrap="square" lIns="0" tIns="14605" rIns="0" bIns="0" rtlCol="0">
            <a:spAutoFit/>
          </a:bodyPr>
          <a:lstStyle/>
          <a:p>
            <a:pPr marL="21590">
              <a:lnSpc>
                <a:spcPct val="100000"/>
              </a:lnSpc>
              <a:spcBef>
                <a:spcPts val="115"/>
              </a:spcBef>
              <a:tabLst>
                <a:tab pos="800100" algn="l"/>
              </a:tabLst>
            </a:pPr>
            <a:endParaRPr sz="2450" dirty="0">
              <a:latin typeface="Calibri"/>
              <a:cs typeface="Calibri"/>
            </a:endParaRPr>
          </a:p>
        </p:txBody>
      </p:sp>
      <p:pic>
        <p:nvPicPr>
          <p:cNvPr id="10" name="object 6">
            <a:extLst>
              <a:ext uri="{FF2B5EF4-FFF2-40B4-BE49-F238E27FC236}">
                <a16:creationId xmlns:a16="http://schemas.microsoft.com/office/drawing/2014/main" id="{36329DE6-34F0-F9CC-E486-ABC7C4020B72}"/>
              </a:ext>
            </a:extLst>
          </p:cNvPr>
          <p:cNvPicPr/>
          <p:nvPr/>
        </p:nvPicPr>
        <p:blipFill>
          <a:blip r:embed="rId3" cstate="print"/>
          <a:stretch>
            <a:fillRect/>
          </a:stretch>
        </p:blipFill>
        <p:spPr>
          <a:xfrm>
            <a:off x="0" y="1"/>
            <a:ext cx="1421881" cy="1409388"/>
          </a:xfrm>
          <a:prstGeom prst="rect">
            <a:avLst/>
          </a:prstGeom>
        </p:spPr>
      </p:pic>
      <p:sp>
        <p:nvSpPr>
          <p:cNvPr id="15" name="object 3">
            <a:extLst>
              <a:ext uri="{FF2B5EF4-FFF2-40B4-BE49-F238E27FC236}">
                <a16:creationId xmlns:a16="http://schemas.microsoft.com/office/drawing/2014/main" id="{B854B706-661D-6EDC-5891-3BC4BB00B49F}"/>
              </a:ext>
            </a:extLst>
          </p:cNvPr>
          <p:cNvSpPr txBox="1"/>
          <p:nvPr/>
        </p:nvSpPr>
        <p:spPr>
          <a:xfrm>
            <a:off x="17214850" y="10552493"/>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02</a:t>
            </a:r>
            <a:endParaRPr sz="1787" dirty="0">
              <a:latin typeface="Calibri"/>
              <a:cs typeface="Calibri"/>
            </a:endParaRPr>
          </a:p>
        </p:txBody>
      </p:sp>
      <p:sp>
        <p:nvSpPr>
          <p:cNvPr id="7" name="object 9">
            <a:extLst>
              <a:ext uri="{FF2B5EF4-FFF2-40B4-BE49-F238E27FC236}">
                <a16:creationId xmlns:a16="http://schemas.microsoft.com/office/drawing/2014/main" id="{D6548450-0842-5251-CEEF-5586B12F73F3}"/>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EEFC4D16-68EA-F26A-9855-1ED3F16709B8}"/>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DB5EBDE4-6E94-7FB0-BD93-5C98454AA980}"/>
              </a:ext>
            </a:extLst>
          </p:cNvPr>
          <p:cNvPicPr/>
          <p:nvPr/>
        </p:nvPicPr>
        <p:blipFill>
          <a:blip r:embed="rId4" cstate="print"/>
          <a:stretch>
            <a:fillRect/>
          </a:stretch>
        </p:blipFill>
        <p:spPr>
          <a:xfrm>
            <a:off x="17900507" y="0"/>
            <a:ext cx="1831561" cy="17462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663027" y="3591761"/>
            <a:ext cx="17380480" cy="4951740"/>
          </a:xfrm>
          <a:prstGeom prst="rect">
            <a:avLst/>
          </a:prstGeom>
        </p:spPr>
        <p:txBody>
          <a:bodyPr vert="horz" wrap="square" lIns="0" tIns="12700" rIns="0" bIns="0" rtlCol="0">
            <a:spAutoFit/>
          </a:bodyPr>
          <a:lstStyle/>
          <a:p>
            <a:pPr marL="12700" marR="5080" indent="7620" algn="just">
              <a:lnSpc>
                <a:spcPct val="113599"/>
              </a:lnSpc>
              <a:spcBef>
                <a:spcPts val="100"/>
              </a:spcBef>
            </a:pPr>
            <a:r>
              <a:rPr lang="en-US" sz="3000" dirty="0">
                <a:solidFill>
                  <a:schemeClr val="tx1"/>
                </a:solidFill>
                <a:latin typeface="Times New Roman" panose="02020603050405020304" pitchFamily="18" charset="0"/>
                <a:cs typeface="Times New Roman" panose="02020603050405020304" pitchFamily="18" charset="0"/>
              </a:rPr>
              <a:t>This</a:t>
            </a:r>
            <a:r>
              <a:rPr lang="en-US" sz="3000" spc="-140"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project</a:t>
            </a:r>
            <a:r>
              <a:rPr lang="en-US" sz="3000" spc="-4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addresses</a:t>
            </a:r>
            <a:r>
              <a:rPr lang="en-US" sz="3000" spc="30"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the</a:t>
            </a:r>
            <a:r>
              <a:rPr lang="en-US" sz="3000" spc="-18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real</a:t>
            </a:r>
            <a:r>
              <a:rPr lang="en-US" sz="3000" spc="-25"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estate</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40" dirty="0">
                <a:solidFill>
                  <a:schemeClr val="tx1"/>
                </a:solidFill>
                <a:latin typeface="Times New Roman" panose="02020603050405020304" pitchFamily="18" charset="0"/>
                <a:cs typeface="Times New Roman" panose="02020603050405020304" pitchFamily="18" charset="0"/>
              </a:rPr>
              <a:t>valuation</a:t>
            </a:r>
            <a:r>
              <a:rPr lang="en-US" sz="3000" spc="-30" dirty="0">
                <a:solidFill>
                  <a:schemeClr val="tx1"/>
                </a:solidFill>
                <a:latin typeface="Times New Roman" panose="02020603050405020304" pitchFamily="18" charset="0"/>
                <a:cs typeface="Times New Roman" panose="02020603050405020304" pitchFamily="18" charset="0"/>
              </a:rPr>
              <a:t> </a:t>
            </a:r>
            <a:r>
              <a:rPr lang="en-US" sz="3000" spc="-75" dirty="0">
                <a:solidFill>
                  <a:schemeClr val="tx1"/>
                </a:solidFill>
                <a:latin typeface="Times New Roman" panose="02020603050405020304" pitchFamily="18" charset="0"/>
                <a:cs typeface="Times New Roman" panose="02020603050405020304" pitchFamily="18" charset="0"/>
              </a:rPr>
              <a:t>challenge</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45" dirty="0">
                <a:solidFill>
                  <a:schemeClr val="tx1"/>
                </a:solidFill>
                <a:latin typeface="Times New Roman" panose="02020603050405020304" pitchFamily="18" charset="0"/>
                <a:cs typeface="Times New Roman" panose="02020603050405020304" pitchFamily="18" charset="0"/>
              </a:rPr>
              <a:t>by</a:t>
            </a:r>
            <a:r>
              <a:rPr lang="en-US" sz="3000" spc="-235"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using </a:t>
            </a:r>
            <a:r>
              <a:rPr lang="en-US" sz="3000" spc="-30" dirty="0">
                <a:solidFill>
                  <a:schemeClr val="tx1"/>
                </a:solidFill>
                <a:latin typeface="Times New Roman" panose="02020603050405020304" pitchFamily="18" charset="0"/>
                <a:cs typeface="Times New Roman" panose="02020603050405020304" pitchFamily="18" charset="0"/>
              </a:rPr>
              <a:t>Machine</a:t>
            </a:r>
            <a:r>
              <a:rPr lang="en-US" sz="3000" spc="-10" dirty="0">
                <a:solidFill>
                  <a:schemeClr val="tx1"/>
                </a:solidFill>
                <a:latin typeface="Times New Roman" panose="02020603050405020304" pitchFamily="18" charset="0"/>
                <a:cs typeface="Times New Roman" panose="02020603050405020304" pitchFamily="18" charset="0"/>
              </a:rPr>
              <a:t> </a:t>
            </a:r>
            <a:r>
              <a:rPr lang="en-US" sz="3000" spc="-25" dirty="0">
                <a:solidFill>
                  <a:schemeClr val="tx1"/>
                </a:solidFill>
                <a:latin typeface="Times New Roman" panose="02020603050405020304" pitchFamily="18" charset="0"/>
                <a:cs typeface="Times New Roman" panose="02020603050405020304" pitchFamily="18" charset="0"/>
              </a:rPr>
              <a:t>Learning</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to</a:t>
            </a:r>
            <a:r>
              <a:rPr lang="en-US" sz="3000" spc="-180"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analyze</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9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predict</a:t>
            </a:r>
            <a:r>
              <a:rPr lang="en-US" sz="3000" spc="50"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house</a:t>
            </a:r>
            <a:r>
              <a:rPr lang="en-US" sz="3000" spc="-11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price</a:t>
            </a:r>
            <a:r>
              <a:rPr lang="en-US" sz="3000" spc="-95" dirty="0">
                <a:solidFill>
                  <a:schemeClr val="tx1"/>
                </a:solidFill>
                <a:latin typeface="Times New Roman" panose="02020603050405020304" pitchFamily="18" charset="0"/>
                <a:cs typeface="Times New Roman" panose="02020603050405020304" pitchFamily="18" charset="0"/>
              </a:rPr>
              <a:t> </a:t>
            </a:r>
            <a:r>
              <a:rPr lang="en-US" sz="3000" spc="-70" dirty="0">
                <a:solidFill>
                  <a:schemeClr val="tx1"/>
                </a:solidFill>
                <a:latin typeface="Times New Roman" panose="02020603050405020304" pitchFamily="18" charset="0"/>
                <a:cs typeface="Times New Roman" panose="02020603050405020304" pitchFamily="18" charset="0"/>
              </a:rPr>
              <a:t>trends.</a:t>
            </a:r>
            <a:r>
              <a:rPr lang="en-US" sz="3000" spc="-10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By </a:t>
            </a:r>
            <a:r>
              <a:rPr lang="en-US" sz="3000" spc="-45" dirty="0">
                <a:solidFill>
                  <a:schemeClr val="tx1"/>
                </a:solidFill>
                <a:latin typeface="Times New Roman" panose="02020603050405020304" pitchFamily="18" charset="0"/>
                <a:cs typeface="Times New Roman" panose="02020603050405020304" pitchFamily="18" charset="0"/>
              </a:rPr>
              <a:t>processing</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large</a:t>
            </a:r>
            <a:r>
              <a:rPr lang="en-US" sz="3000" spc="-170" dirty="0">
                <a:solidFill>
                  <a:schemeClr val="tx1"/>
                </a:solidFill>
                <a:latin typeface="Times New Roman" panose="02020603050405020304" pitchFamily="18" charset="0"/>
                <a:cs typeface="Times New Roman" panose="02020603050405020304" pitchFamily="18" charset="0"/>
              </a:rPr>
              <a:t> </a:t>
            </a:r>
            <a:r>
              <a:rPr lang="en-US" sz="3000" spc="-35" dirty="0">
                <a:solidFill>
                  <a:schemeClr val="tx1"/>
                </a:solidFill>
                <a:latin typeface="Times New Roman" panose="02020603050405020304" pitchFamily="18" charset="0"/>
                <a:cs typeface="Times New Roman" panose="02020603050405020304" pitchFamily="18" charset="0"/>
              </a:rPr>
              <a:t>datasets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of</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housing</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features</a:t>
            </a:r>
            <a:r>
              <a:rPr lang="en-US" sz="3000" spc="-2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like</a:t>
            </a:r>
            <a:r>
              <a:rPr lang="en-US" sz="3000" spc="-13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square</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footage, </a:t>
            </a:r>
            <a:r>
              <a:rPr lang="en-US" sz="3000" spc="-50" dirty="0">
                <a:solidFill>
                  <a:schemeClr val="tx1"/>
                </a:solidFill>
                <a:latin typeface="Times New Roman" panose="02020603050405020304" pitchFamily="18" charset="0"/>
                <a:cs typeface="Times New Roman" panose="02020603050405020304" pitchFamily="18" charset="0"/>
              </a:rPr>
              <a:t>location,</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75" dirty="0">
                <a:solidFill>
                  <a:schemeClr val="tx1"/>
                </a:solidFill>
                <a:latin typeface="Times New Roman" panose="02020603050405020304" pitchFamily="18" charset="0"/>
                <a:cs typeface="Times New Roman" panose="02020603050405020304" pitchFamily="18" charset="0"/>
              </a:rPr>
              <a:t> </a:t>
            </a:r>
            <a:r>
              <a:rPr lang="en-US" sz="3000" spc="-114" dirty="0">
                <a:solidFill>
                  <a:schemeClr val="tx1"/>
                </a:solidFill>
                <a:latin typeface="Times New Roman" panose="02020603050405020304" pitchFamily="18" charset="0"/>
                <a:cs typeface="Times New Roman" panose="02020603050405020304" pitchFamily="18" charset="0"/>
              </a:rPr>
              <a:t>age,</a:t>
            </a:r>
            <a:r>
              <a:rPr lang="en-US" sz="3000" spc="-150" dirty="0">
                <a:solidFill>
                  <a:schemeClr val="tx1"/>
                </a:solidFill>
                <a:latin typeface="Times New Roman" panose="02020603050405020304" pitchFamily="18" charset="0"/>
                <a:cs typeface="Times New Roman" panose="02020603050405020304" pitchFamily="18" charset="0"/>
              </a:rPr>
              <a:t> </a:t>
            </a:r>
            <a:r>
              <a:rPr lang="en-US" sz="3000" spc="-85" dirty="0">
                <a:solidFill>
                  <a:schemeClr val="tx1"/>
                </a:solidFill>
                <a:latin typeface="Times New Roman" panose="02020603050405020304" pitchFamily="18" charset="0"/>
                <a:cs typeface="Times New Roman" panose="02020603050405020304" pitchFamily="18" charset="0"/>
              </a:rPr>
              <a:t>we</a:t>
            </a:r>
            <a:r>
              <a:rPr lang="en-US" sz="3000" spc="-16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identify</a:t>
            </a:r>
            <a:r>
              <a:rPr lang="en-US" sz="3000" spc="-10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the</a:t>
            </a:r>
            <a:r>
              <a:rPr lang="en-US" sz="3000" spc="-18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key</a:t>
            </a:r>
            <a:r>
              <a:rPr lang="en-US" sz="3000" spc="-125"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drivers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of</a:t>
            </a:r>
            <a:r>
              <a:rPr lang="en-US" sz="3000" spc="-114"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property</a:t>
            </a:r>
            <a:r>
              <a:rPr lang="en-US" sz="300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value.</a:t>
            </a:r>
            <a:endParaRPr lang="en-US" sz="3000" dirty="0">
              <a:solidFill>
                <a:schemeClr val="tx1"/>
              </a:solidFill>
              <a:latin typeface="Times New Roman" panose="02020603050405020304" pitchFamily="18" charset="0"/>
              <a:cs typeface="Times New Roman" panose="02020603050405020304" pitchFamily="18" charset="0"/>
            </a:endParaRPr>
          </a:p>
          <a:p>
            <a:pPr marL="15875" marR="137795" indent="-635" algn="just">
              <a:lnSpc>
                <a:spcPct val="113599"/>
              </a:lnSpc>
              <a:spcBef>
                <a:spcPts val="1855"/>
              </a:spcBef>
            </a:pPr>
            <a:r>
              <a:rPr lang="en-US" sz="3000" spc="-20" dirty="0">
                <a:solidFill>
                  <a:schemeClr val="tx1"/>
                </a:solidFill>
                <a:latin typeface="Times New Roman" panose="02020603050405020304" pitchFamily="18" charset="0"/>
                <a:cs typeface="Times New Roman" panose="02020603050405020304" pitchFamily="18" charset="0"/>
              </a:rPr>
              <a:t>Our</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95" dirty="0">
                <a:solidFill>
                  <a:schemeClr val="tx1"/>
                </a:solidFill>
                <a:latin typeface="Times New Roman" panose="02020603050405020304" pitchFamily="18" charset="0"/>
                <a:cs typeface="Times New Roman" panose="02020603050405020304" pitchFamily="18" charset="0"/>
              </a:rPr>
              <a:t>model</a:t>
            </a:r>
            <a:r>
              <a:rPr lang="en-US" sz="3000" spc="-40" dirty="0">
                <a:solidFill>
                  <a:schemeClr val="tx1"/>
                </a:solidFill>
                <a:latin typeface="Times New Roman" panose="02020603050405020304" pitchFamily="18" charset="0"/>
                <a:cs typeface="Times New Roman" panose="02020603050405020304" pitchFamily="18" charset="0"/>
              </a:rPr>
              <a:t> </a:t>
            </a:r>
            <a:r>
              <a:rPr lang="en-US" sz="3000" spc="-70" dirty="0">
                <a:solidFill>
                  <a:schemeClr val="tx1"/>
                </a:solidFill>
                <a:latin typeface="Times New Roman" panose="02020603050405020304" pitchFamily="18" charset="0"/>
                <a:cs typeface="Times New Roman" panose="02020603050405020304" pitchFamily="18" charset="0"/>
              </a:rPr>
              <a:t>employs</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advanced</a:t>
            </a:r>
            <a:r>
              <a:rPr lang="en-US" sz="3000" spc="20" dirty="0">
                <a:solidFill>
                  <a:schemeClr val="tx1"/>
                </a:solidFill>
                <a:latin typeface="Times New Roman" panose="02020603050405020304" pitchFamily="18" charset="0"/>
                <a:cs typeface="Times New Roman" panose="02020603050405020304" pitchFamily="18" charset="0"/>
              </a:rPr>
              <a:t> </a:t>
            </a:r>
            <a:r>
              <a:rPr lang="en-US" sz="3000" spc="-35" dirty="0">
                <a:solidFill>
                  <a:schemeClr val="tx1"/>
                </a:solidFill>
                <a:latin typeface="Times New Roman" panose="02020603050405020304" pitchFamily="18" charset="0"/>
                <a:cs typeface="Times New Roman" panose="02020603050405020304" pitchFamily="18" charset="0"/>
              </a:rPr>
              <a:t>Regression</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techniques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to</a:t>
            </a:r>
            <a:r>
              <a:rPr lang="en-US" sz="3000" spc="-19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provide </a:t>
            </a:r>
            <a:r>
              <a:rPr lang="en-US" sz="3000" spc="-75" dirty="0">
                <a:solidFill>
                  <a:schemeClr val="tx1"/>
                </a:solidFill>
                <a:latin typeface="Times New Roman" panose="02020603050405020304" pitchFamily="18" charset="0"/>
                <a:cs typeface="Times New Roman" panose="02020603050405020304" pitchFamily="18" charset="0"/>
              </a:rPr>
              <a:t>accurate</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price</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forecasts,</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helping</a:t>
            </a:r>
            <a:r>
              <a:rPr lang="en-US" sz="3000" spc="-17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buyers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investors</a:t>
            </a:r>
            <a:r>
              <a:rPr lang="en-US" sz="3000" spc="50" dirty="0">
                <a:solidFill>
                  <a:schemeClr val="tx1"/>
                </a:solidFill>
                <a:latin typeface="Times New Roman" panose="02020603050405020304" pitchFamily="18" charset="0"/>
                <a:cs typeface="Times New Roman" panose="02020603050405020304" pitchFamily="18" charset="0"/>
              </a:rPr>
              <a:t> </a:t>
            </a:r>
            <a:r>
              <a:rPr lang="en-US" sz="3000" spc="-130" dirty="0">
                <a:solidFill>
                  <a:schemeClr val="tx1"/>
                </a:solidFill>
                <a:latin typeface="Times New Roman" panose="02020603050405020304" pitchFamily="18" charset="0"/>
                <a:cs typeface="Times New Roman" panose="02020603050405020304" pitchFamily="18" charset="0"/>
              </a:rPr>
              <a:t>make</a:t>
            </a:r>
            <a:r>
              <a:rPr lang="en-US" sz="3000" spc="-125"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data- </a:t>
            </a:r>
            <a:r>
              <a:rPr lang="en-US" sz="3000" spc="-50" dirty="0">
                <a:solidFill>
                  <a:schemeClr val="tx1"/>
                </a:solidFill>
                <a:latin typeface="Times New Roman" panose="02020603050405020304" pitchFamily="18" charset="0"/>
                <a:cs typeface="Times New Roman" panose="02020603050405020304" pitchFamily="18" charset="0"/>
              </a:rPr>
              <a:t>driven</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40" dirty="0">
                <a:solidFill>
                  <a:schemeClr val="tx1"/>
                </a:solidFill>
                <a:latin typeface="Times New Roman" panose="02020603050405020304" pitchFamily="18" charset="0"/>
                <a:cs typeface="Times New Roman" panose="02020603050405020304" pitchFamily="18" charset="0"/>
              </a:rPr>
              <a:t>decisions</a:t>
            </a:r>
            <a:r>
              <a:rPr lang="en-US" sz="3000" dirty="0">
                <a:solidFill>
                  <a:schemeClr val="tx1"/>
                </a:solidFill>
                <a:latin typeface="Times New Roman" panose="02020603050405020304" pitchFamily="18" charset="0"/>
                <a:cs typeface="Times New Roman" panose="02020603050405020304" pitchFamily="18" charset="0"/>
              </a:rPr>
              <a:t> </a:t>
            </a:r>
            <a:r>
              <a:rPr lang="en-US" sz="3000" spc="-20" dirty="0">
                <a:solidFill>
                  <a:schemeClr val="tx1"/>
                </a:solidFill>
                <a:latin typeface="Times New Roman" panose="02020603050405020304" pitchFamily="18" charset="0"/>
                <a:cs typeface="Times New Roman" panose="02020603050405020304" pitchFamily="18" charset="0"/>
              </a:rPr>
              <a:t>in</a:t>
            </a:r>
            <a:r>
              <a:rPr lang="en-US" sz="3000" spc="-19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a</a:t>
            </a:r>
            <a:r>
              <a:rPr lang="en-US" sz="3000" spc="-190" dirty="0">
                <a:solidFill>
                  <a:schemeClr val="tx1"/>
                </a:solidFill>
                <a:latin typeface="Times New Roman" panose="02020603050405020304" pitchFamily="18" charset="0"/>
                <a:cs typeface="Times New Roman" panose="02020603050405020304" pitchFamily="18" charset="0"/>
              </a:rPr>
              <a:t> </a:t>
            </a:r>
            <a:r>
              <a:rPr lang="en-US" sz="3000" spc="-25" dirty="0">
                <a:solidFill>
                  <a:schemeClr val="tx1"/>
                </a:solidFill>
                <a:latin typeface="Times New Roman" panose="02020603050405020304" pitchFamily="18" charset="0"/>
                <a:cs typeface="Times New Roman" panose="02020603050405020304" pitchFamily="18" charset="0"/>
              </a:rPr>
              <a:t>volatile</a:t>
            </a:r>
            <a:r>
              <a:rPr lang="en-US" sz="3000" spc="-114"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market.</a:t>
            </a:r>
            <a:r>
              <a:rPr lang="en-US" sz="3000" dirty="0"/>
              <a:t> </a:t>
            </a:r>
            <a:r>
              <a:rPr lang="en-US" sz="3000" dirty="0">
                <a:latin typeface="Times New Roman" panose="02020603050405020304" pitchFamily="18" charset="0"/>
                <a:cs typeface="Times New Roman" panose="02020603050405020304" pitchFamily="18" charset="0"/>
              </a:rPr>
              <a:t>The proposed system leverages data preprocessing, feature engineering, and statistical analysis to enhance prediction accuracy and reliability.</a:t>
            </a:r>
            <a:r>
              <a:rPr lang="en-US" sz="3000" dirty="0"/>
              <a:t> </a:t>
            </a:r>
            <a:r>
              <a:rPr lang="en-US" sz="3000" dirty="0">
                <a:latin typeface="Times New Roman" panose="02020603050405020304" pitchFamily="18" charset="0"/>
                <a:cs typeface="Times New Roman" panose="02020603050405020304" pitchFamily="18" charset="0"/>
              </a:rPr>
              <a:t>The model captures complex relationships between property attributes and market trends that are difficult to analyze using traditional methods. The solution offers scalability, allowing it to adapt to diverse real estate markets and evolving economic conditions.</a:t>
            </a:r>
            <a:endParaRPr lang="en-US" sz="3000"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6982DEC0-014F-A24E-9513-45CDA73CB5E6}"/>
              </a:ext>
            </a:extLst>
          </p:cNvPr>
          <p:cNvPicPr/>
          <p:nvPr/>
        </p:nvPicPr>
        <p:blipFill>
          <a:blip r:embed="rId2" cstate="print"/>
          <a:stretch>
            <a:fillRect/>
          </a:stretch>
        </p:blipFill>
        <p:spPr>
          <a:xfrm>
            <a:off x="0" y="1"/>
            <a:ext cx="1421881" cy="1409388"/>
          </a:xfrm>
          <a:prstGeom prst="rect">
            <a:avLst/>
          </a:prstGeom>
        </p:spPr>
      </p:pic>
      <p:sp>
        <p:nvSpPr>
          <p:cNvPr id="16" name="object 3">
            <a:extLst>
              <a:ext uri="{FF2B5EF4-FFF2-40B4-BE49-F238E27FC236}">
                <a16:creationId xmlns:a16="http://schemas.microsoft.com/office/drawing/2014/main" id="{6CA0C454-8687-8C44-2B83-D6B4E0EF9776}"/>
              </a:ext>
            </a:extLst>
          </p:cNvPr>
          <p:cNvSpPr txBox="1"/>
          <p:nvPr/>
        </p:nvSpPr>
        <p:spPr>
          <a:xfrm>
            <a:off x="18357850" y="10929080"/>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03</a:t>
            </a:r>
            <a:endParaRPr sz="1787" dirty="0">
              <a:latin typeface="Calibri"/>
              <a:cs typeface="Calibri"/>
            </a:endParaRPr>
          </a:p>
        </p:txBody>
      </p:sp>
      <p:sp>
        <p:nvSpPr>
          <p:cNvPr id="3" name="object 9">
            <a:extLst>
              <a:ext uri="{FF2B5EF4-FFF2-40B4-BE49-F238E27FC236}">
                <a16:creationId xmlns:a16="http://schemas.microsoft.com/office/drawing/2014/main" id="{CFF87E48-1EB4-6572-4BA2-C26F99E27944}"/>
              </a:ext>
            </a:extLst>
          </p:cNvPr>
          <p:cNvSpPr txBox="1"/>
          <p:nvPr/>
        </p:nvSpPr>
        <p:spPr>
          <a:xfrm>
            <a:off x="679190" y="10929080"/>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7DFDD8B3-EE4C-AD62-FAD1-5867D42093E4}"/>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10" name="object 6">
            <a:extLst>
              <a:ext uri="{FF2B5EF4-FFF2-40B4-BE49-F238E27FC236}">
                <a16:creationId xmlns:a16="http://schemas.microsoft.com/office/drawing/2014/main" id="{F566F031-1973-CE31-5A27-830B772B4A00}"/>
              </a:ext>
            </a:extLst>
          </p:cNvPr>
          <p:cNvPicPr/>
          <p:nvPr/>
        </p:nvPicPr>
        <p:blipFill>
          <a:blip r:embed="rId3" cstate="print"/>
          <a:stretch>
            <a:fillRect/>
          </a:stretch>
        </p:blipFill>
        <p:spPr>
          <a:xfrm>
            <a:off x="17900507" y="0"/>
            <a:ext cx="1831561" cy="1746207"/>
          </a:xfrm>
          <a:prstGeom prst="rect">
            <a:avLst/>
          </a:prstGeom>
        </p:spPr>
      </p:pic>
      <p:sp>
        <p:nvSpPr>
          <p:cNvPr id="12" name="TextBox 11">
            <a:extLst>
              <a:ext uri="{FF2B5EF4-FFF2-40B4-BE49-F238E27FC236}">
                <a16:creationId xmlns:a16="http://schemas.microsoft.com/office/drawing/2014/main" id="{12FCBEC4-7054-8C82-71BB-EFA581A71549}"/>
              </a:ext>
            </a:extLst>
          </p:cNvPr>
          <p:cNvSpPr txBox="1"/>
          <p:nvPr/>
        </p:nvSpPr>
        <p:spPr>
          <a:xfrm>
            <a:off x="7620747" y="1264465"/>
            <a:ext cx="10058400" cy="1015663"/>
          </a:xfrm>
          <a:prstGeom prst="rect">
            <a:avLst/>
          </a:prstGeom>
          <a:noFill/>
        </p:spPr>
        <p:txBody>
          <a:bodyPr wrap="square">
            <a:spAutoFit/>
          </a:bodyPr>
          <a:lstStyle/>
          <a:p>
            <a:r>
              <a:rPr lang="en-IN" sz="6000" b="1" spc="-10" dirty="0">
                <a:latin typeface="Times New Roman" panose="02020603050405020304" pitchFamily="18" charset="0"/>
                <a:cs typeface="Times New Roman" panose="02020603050405020304" pitchFamily="18" charset="0"/>
              </a:rPr>
              <a:t>ABSTRACT</a:t>
            </a:r>
            <a:endParaRPr lang="en-IN" sz="6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499301" y="1090913"/>
            <a:ext cx="6323786" cy="934817"/>
          </a:xfrm>
          <a:prstGeom prst="rect">
            <a:avLst/>
          </a:prstGeom>
        </p:spPr>
        <p:txBody>
          <a:bodyPr vert="horz" wrap="square" lIns="0" tIns="163776" rIns="0" bIns="0" rtlCol="0">
            <a:spAutoFit/>
          </a:bodyPr>
          <a:lstStyle/>
          <a:p>
            <a:pPr marL="16510" algn="ctr">
              <a:lnSpc>
                <a:spcPct val="100000"/>
              </a:lnSpc>
              <a:spcBef>
                <a:spcPts val="125"/>
              </a:spcBef>
            </a:pPr>
            <a:r>
              <a:rPr lang="en-IN" sz="5000" b="1" spc="135" dirty="0">
                <a:solidFill>
                  <a:schemeClr val="tx1"/>
                </a:solidFill>
                <a:latin typeface="Times New Roman" panose="02020603050405020304" pitchFamily="18" charset="0"/>
                <a:cs typeface="Times New Roman" panose="02020603050405020304" pitchFamily="18" charset="0"/>
              </a:rPr>
              <a:t>OBJECTIVES</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AB225B50-5E71-9852-B0CC-6C6D78D94C4D}"/>
              </a:ext>
            </a:extLst>
          </p:cNvPr>
          <p:cNvPicPr/>
          <p:nvPr/>
        </p:nvPicPr>
        <p:blipFill>
          <a:blip r:embed="rId2" cstate="print"/>
          <a:stretch>
            <a:fillRect/>
          </a:stretch>
        </p:blipFill>
        <p:spPr>
          <a:xfrm>
            <a:off x="0" y="1"/>
            <a:ext cx="1421881" cy="1409388"/>
          </a:xfrm>
          <a:prstGeom prst="rect">
            <a:avLst/>
          </a:prstGeom>
        </p:spPr>
      </p:pic>
      <p:sp>
        <p:nvSpPr>
          <p:cNvPr id="7" name="object 3">
            <a:extLst>
              <a:ext uri="{FF2B5EF4-FFF2-40B4-BE49-F238E27FC236}">
                <a16:creationId xmlns:a16="http://schemas.microsoft.com/office/drawing/2014/main" id="{F1AB492E-1DC9-840B-2371-B8D45BAC57BC}"/>
              </a:ext>
            </a:extLst>
          </p:cNvPr>
          <p:cNvSpPr txBox="1"/>
          <p:nvPr/>
        </p:nvSpPr>
        <p:spPr>
          <a:xfrm>
            <a:off x="17291050" y="106838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04</a:t>
            </a:r>
            <a:endParaRPr sz="1787" dirty="0">
              <a:latin typeface="Calibri"/>
              <a:cs typeface="Calibri"/>
            </a:endParaRPr>
          </a:p>
        </p:txBody>
      </p:sp>
      <p:sp>
        <p:nvSpPr>
          <p:cNvPr id="3" name="object 9">
            <a:extLst>
              <a:ext uri="{FF2B5EF4-FFF2-40B4-BE49-F238E27FC236}">
                <a16:creationId xmlns:a16="http://schemas.microsoft.com/office/drawing/2014/main" id="{08F5B659-88EA-9F1E-29CD-6E1450F48559}"/>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830370ED-5392-C40C-EAB7-BBE1B9C4AA72}"/>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A33B1167-65BF-E227-1C2D-0955DD8931A1}"/>
              </a:ext>
            </a:extLst>
          </p:cNvPr>
          <p:cNvPicPr/>
          <p:nvPr/>
        </p:nvPicPr>
        <p:blipFill>
          <a:blip r:embed="rId3" cstate="print"/>
          <a:stretch>
            <a:fillRect/>
          </a:stretch>
        </p:blipFill>
        <p:spPr>
          <a:xfrm>
            <a:off x="17900507" y="0"/>
            <a:ext cx="1831561" cy="1746207"/>
          </a:xfrm>
          <a:prstGeom prst="rect">
            <a:avLst/>
          </a:prstGeom>
        </p:spPr>
      </p:pic>
      <p:sp>
        <p:nvSpPr>
          <p:cNvPr id="9" name="Rectangle 1">
            <a:extLst>
              <a:ext uri="{FF2B5EF4-FFF2-40B4-BE49-F238E27FC236}">
                <a16:creationId xmlns:a16="http://schemas.microsoft.com/office/drawing/2014/main" id="{6AC5A71F-F914-BE85-8E84-E2F5D8A211D3}"/>
              </a:ext>
            </a:extLst>
          </p:cNvPr>
          <p:cNvSpPr>
            <a:spLocks noGrp="1" noChangeArrowheads="1"/>
          </p:cNvSpPr>
          <p:nvPr>
            <p:ph type="body" idx="1"/>
          </p:nvPr>
        </p:nvSpPr>
        <p:spPr bwMode="auto">
          <a:xfrm>
            <a:off x="1615357" y="3809984"/>
            <a:ext cx="16554826" cy="4164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analyzes historical real estate data to study house price trends. Machine Learning regression models are used to accurately predict property prices.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features such as location, size, amenities, and age are identified and analyzed. Data preprocessing and feature selection are applied to enhance prediction accuracy . Price trends are visualized across different regions and market segments. The system provides an automated and unbiased tool for real estate 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6936077" y="1013651"/>
            <a:ext cx="10964430" cy="894487"/>
          </a:xfrm>
          <a:prstGeom prst="rect">
            <a:avLst/>
          </a:prstGeom>
        </p:spPr>
        <p:txBody>
          <a:bodyPr vert="horz" wrap="square" lIns="0" tIns="123836" rIns="0" bIns="0" rtlCol="0">
            <a:spAutoFit/>
          </a:bodyPr>
          <a:lstStyle/>
          <a:p>
            <a:pPr marL="13970">
              <a:lnSpc>
                <a:spcPct val="100000"/>
              </a:lnSpc>
              <a:spcBef>
                <a:spcPts val="130"/>
              </a:spcBef>
            </a:pPr>
            <a:r>
              <a:rPr lang="en-IN" sz="5000" b="1" spc="-25" dirty="0">
                <a:solidFill>
                  <a:schemeClr val="tx1"/>
                </a:solidFill>
                <a:latin typeface="Times New Roman" panose="02020603050405020304" pitchFamily="18" charset="0"/>
                <a:cs typeface="Times New Roman" panose="02020603050405020304" pitchFamily="18" charset="0"/>
              </a:rPr>
              <a:t>INTRODUCTION</a:t>
            </a:r>
            <a:endParaRPr lang="en-IN" sz="5000" b="1" dirty="0">
              <a:solidFill>
                <a:schemeClr val="tx1"/>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1974850" y="2964555"/>
            <a:ext cx="16069296" cy="6161046"/>
          </a:xfrm>
          <a:prstGeom prst="rect">
            <a:avLst/>
          </a:prstGeom>
        </p:spPr>
        <p:txBody>
          <a:bodyPr vert="horz" wrap="square" lIns="0" tIns="11430" rIns="0" bIns="0" rtlCol="0">
            <a:spAutoFit/>
          </a:bodyPr>
          <a:lstStyle/>
          <a:p>
            <a:pPr algn="just">
              <a:lnSpc>
                <a:spcPct val="150000"/>
              </a:lnSpc>
            </a:pPr>
            <a:r>
              <a:rPr lang="en-US" sz="3000" dirty="0">
                <a:latin typeface="Times New Roman" panose="02020603050405020304" pitchFamily="18" charset="0"/>
                <a:cs typeface="Times New Roman" panose="02020603050405020304" pitchFamily="18" charset="0"/>
              </a:rPr>
              <a:t>The real estate industry is a major pillar of the economy, playing a vital role in financial growth and urban development. However, property pricing often lacks consistency due to reliance on subjective judgments, broker expertise, and limited data-driven analysis. Traditional valuation methods struggle to capture complex market dynamics and changing trends.</a:t>
            </a:r>
          </a:p>
          <a:p>
            <a:pPr algn="just">
              <a:lnSpc>
                <a:spcPct val="150000"/>
              </a:lnSpc>
            </a:pPr>
            <a:r>
              <a:rPr lang="en-US" sz="3000" dirty="0">
                <a:latin typeface="Times New Roman" panose="02020603050405020304" pitchFamily="18" charset="0"/>
                <a:cs typeface="Times New Roman" panose="02020603050405020304" pitchFamily="18" charset="0"/>
              </a:rPr>
              <a:t>With the advancement of Machine Learning, real estate analysis is shifting toward data-driven decision-making. By analyzing historical property data, Machine Learning models can identify hidden patterns and key factors influencing house prices. This project applies predictive analytics to transform subjective property valuation into accurate and reliable quantitative predictions, enabling better insights into real estate market trends.</a:t>
            </a:r>
          </a:p>
        </p:txBody>
      </p:sp>
      <p:pic>
        <p:nvPicPr>
          <p:cNvPr id="11" name="object 6">
            <a:extLst>
              <a:ext uri="{FF2B5EF4-FFF2-40B4-BE49-F238E27FC236}">
                <a16:creationId xmlns:a16="http://schemas.microsoft.com/office/drawing/2014/main" id="{B456A8AF-9BC1-623F-6DDB-D13CADD3F249}"/>
              </a:ext>
            </a:extLst>
          </p:cNvPr>
          <p:cNvPicPr/>
          <p:nvPr/>
        </p:nvPicPr>
        <p:blipFill>
          <a:blip r:embed="rId2" cstate="print"/>
          <a:stretch>
            <a:fillRect/>
          </a:stretch>
        </p:blipFill>
        <p:spPr>
          <a:xfrm>
            <a:off x="0" y="1"/>
            <a:ext cx="1421881" cy="1409388"/>
          </a:xfrm>
          <a:prstGeom prst="rect">
            <a:avLst/>
          </a:prstGeom>
        </p:spPr>
      </p:pic>
      <p:sp>
        <p:nvSpPr>
          <p:cNvPr id="8" name="object 3">
            <a:extLst>
              <a:ext uri="{FF2B5EF4-FFF2-40B4-BE49-F238E27FC236}">
                <a16:creationId xmlns:a16="http://schemas.microsoft.com/office/drawing/2014/main" id="{7A6307B3-20F8-0612-CCD4-B4B0BDD9B8B8}"/>
              </a:ext>
            </a:extLst>
          </p:cNvPr>
          <p:cNvSpPr txBox="1"/>
          <p:nvPr/>
        </p:nvSpPr>
        <p:spPr>
          <a:xfrm>
            <a:off x="17386903" y="10780644"/>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05</a:t>
            </a:r>
            <a:endParaRPr sz="1787" dirty="0">
              <a:latin typeface="Calibri"/>
              <a:cs typeface="Calibri"/>
            </a:endParaRPr>
          </a:p>
        </p:txBody>
      </p:sp>
      <p:sp>
        <p:nvSpPr>
          <p:cNvPr id="12" name="object 9">
            <a:extLst>
              <a:ext uri="{FF2B5EF4-FFF2-40B4-BE49-F238E27FC236}">
                <a16:creationId xmlns:a16="http://schemas.microsoft.com/office/drawing/2014/main" id="{CB819D1F-294D-8626-5D6E-15D6FB025AA2}"/>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3" name="object 10">
            <a:extLst>
              <a:ext uri="{FF2B5EF4-FFF2-40B4-BE49-F238E27FC236}">
                <a16:creationId xmlns:a16="http://schemas.microsoft.com/office/drawing/2014/main" id="{425220DB-0EF1-7F53-CE46-9279F0C715D5}"/>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EAA92DB1-A2BA-BDFE-D193-E7D5E96711CA}"/>
              </a:ext>
            </a:extLst>
          </p:cNvPr>
          <p:cNvPicPr/>
          <p:nvPr/>
        </p:nvPicPr>
        <p:blipFill>
          <a:blip r:embed="rId3" cstate="print"/>
          <a:stretch>
            <a:fillRect/>
          </a:stretch>
        </p:blipFill>
        <p:spPr>
          <a:xfrm>
            <a:off x="17900507" y="0"/>
            <a:ext cx="1831561" cy="17462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861050" y="1127933"/>
            <a:ext cx="10964430" cy="883332"/>
          </a:xfrm>
          <a:prstGeom prst="rect">
            <a:avLst/>
          </a:prstGeom>
        </p:spPr>
        <p:txBody>
          <a:bodyPr vert="horz" wrap="square" lIns="0" tIns="112789" rIns="0" bIns="0" rtlCol="0">
            <a:spAutoFit/>
          </a:bodyPr>
          <a:lstStyle/>
          <a:p>
            <a:pPr marL="12700">
              <a:lnSpc>
                <a:spcPct val="100000"/>
              </a:lnSpc>
              <a:spcBef>
                <a:spcPts val="110"/>
              </a:spcBef>
            </a:pPr>
            <a:r>
              <a:rPr lang="en-IN" sz="5000" b="1" spc="-60" dirty="0">
                <a:solidFill>
                  <a:schemeClr val="tx1"/>
                </a:solidFill>
                <a:latin typeface="Times New Roman" panose="02020603050405020304" pitchFamily="18" charset="0"/>
                <a:cs typeface="Times New Roman" panose="02020603050405020304" pitchFamily="18" charset="0"/>
              </a:rPr>
              <a:t>LITERATURE</a:t>
            </a:r>
            <a:r>
              <a:rPr lang="en-IN" sz="5000" b="1" spc="-285" dirty="0">
                <a:solidFill>
                  <a:schemeClr val="tx1"/>
                </a:solidFill>
                <a:latin typeface="Times New Roman" panose="02020603050405020304" pitchFamily="18" charset="0"/>
                <a:cs typeface="Times New Roman" panose="02020603050405020304" pitchFamily="18" charset="0"/>
              </a:rPr>
              <a:t> </a:t>
            </a:r>
            <a:r>
              <a:rPr lang="en-IN" sz="5000" b="1" spc="-10" dirty="0">
                <a:solidFill>
                  <a:schemeClr val="tx1"/>
                </a:solidFill>
                <a:latin typeface="Times New Roman" panose="02020603050405020304" pitchFamily="18" charset="0"/>
                <a:cs typeface="Times New Roman" panose="02020603050405020304" pitchFamily="18" charset="0"/>
              </a:rPr>
              <a:t>SURVEY</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7" name="object 6">
            <a:extLst>
              <a:ext uri="{FF2B5EF4-FFF2-40B4-BE49-F238E27FC236}">
                <a16:creationId xmlns:a16="http://schemas.microsoft.com/office/drawing/2014/main" id="{427EE99E-94D9-58CA-C715-BCC855A74DB8}"/>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838B0F72-E714-6056-466A-8A224AC06BAB}"/>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06</a:t>
            </a:r>
            <a:endParaRPr sz="1787" dirty="0">
              <a:latin typeface="Calibri"/>
              <a:cs typeface="Calibri"/>
            </a:endParaRPr>
          </a:p>
        </p:txBody>
      </p:sp>
      <p:sp>
        <p:nvSpPr>
          <p:cNvPr id="8" name="object 9">
            <a:extLst>
              <a:ext uri="{FF2B5EF4-FFF2-40B4-BE49-F238E27FC236}">
                <a16:creationId xmlns:a16="http://schemas.microsoft.com/office/drawing/2014/main" id="{69AEAFD3-D8E4-E7DF-84A6-954CCCE14793}"/>
              </a:ext>
            </a:extLst>
          </p:cNvPr>
          <p:cNvSpPr txBox="1"/>
          <p:nvPr/>
        </p:nvSpPr>
        <p:spPr>
          <a:xfrm>
            <a:off x="908050" y="10984734"/>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0" name="object 10">
            <a:extLst>
              <a:ext uri="{FF2B5EF4-FFF2-40B4-BE49-F238E27FC236}">
                <a16:creationId xmlns:a16="http://schemas.microsoft.com/office/drawing/2014/main" id="{55FBAD67-EFFD-DE47-D5F1-002AA25058AC}"/>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C092AF43-79C5-6994-EC83-80DA7FF04B71}"/>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D872716F-FC3A-361D-9EF3-C148C8AD1BC0}"/>
              </a:ext>
            </a:extLst>
          </p:cNvPr>
          <p:cNvSpPr txBox="1"/>
          <p:nvPr/>
        </p:nvSpPr>
        <p:spPr>
          <a:xfrm>
            <a:off x="2238678" y="3223240"/>
            <a:ext cx="16611600" cy="4856842"/>
          </a:xfrm>
          <a:prstGeom prst="rect">
            <a:avLst/>
          </a:prstGeom>
          <a:noFill/>
        </p:spPr>
        <p:txBody>
          <a:bodyPr wrap="square">
            <a:spAutoFit/>
          </a:bodyPr>
          <a:lstStyle/>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r>
              <a:rPr lang="en-US" sz="3000" b="1" dirty="0">
                <a:latin typeface="Times New Roman" panose="02020603050405020304" pitchFamily="18" charset="0"/>
                <a:cs typeface="Times New Roman" panose="02020603050405020304" pitchFamily="18" charset="0"/>
              </a:rPr>
              <a:t>1.Hedonic Regression (2022)</a:t>
            </a:r>
          </a:p>
          <a:p>
            <a:pPr algn="just">
              <a:lnSpc>
                <a:spcPct val="150000"/>
              </a:lnSpc>
              <a:buNone/>
            </a:pPr>
            <a:r>
              <a:rPr lang="en-US" sz="3000" b="1" dirty="0">
                <a:latin typeface="Times New Roman" panose="02020603050405020304" pitchFamily="18" charset="0"/>
                <a:cs typeface="Times New Roman" panose="02020603050405020304" pitchFamily="18" charset="0"/>
              </a:rPr>
              <a:t>Author:</a:t>
            </a:r>
            <a:r>
              <a:rPr lang="en-US" sz="3000" dirty="0">
                <a:latin typeface="Times New Roman" panose="02020603050405020304" pitchFamily="18" charset="0"/>
                <a:cs typeface="Times New Roman" panose="02020603050405020304" pitchFamily="18" charset="0"/>
              </a:rPr>
              <a:t> J. Smith, A. Kumar</a:t>
            </a:r>
          </a:p>
          <a:p>
            <a:pPr algn="just">
              <a:lnSpc>
                <a:spcPct val="150000"/>
              </a:lnSpc>
              <a:buNone/>
            </a:pPr>
            <a:r>
              <a:rPr lang="en-US" sz="3000" dirty="0">
                <a:latin typeface="Times New Roman" panose="02020603050405020304" pitchFamily="18" charset="0"/>
                <a:cs typeface="Times New Roman" panose="02020603050405020304" pitchFamily="18" charset="0"/>
              </a:rPr>
              <a:t>This study analyzed the impact of individual housing features such as location, size, and amenities on property prices using linear regression techniques. The results showed that location was the most dominant factor influencing price. However, the model struggled to capture non-linear relationships in complex real estate markets, limiting prediction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215C5-1CC8-EAFA-6D5B-26DD58753C82}"/>
              </a:ext>
            </a:extLst>
          </p:cNvPr>
          <p:cNvSpPr txBox="1"/>
          <p:nvPr/>
        </p:nvSpPr>
        <p:spPr>
          <a:xfrm>
            <a:off x="2355850" y="2530475"/>
            <a:ext cx="14478000" cy="6241837"/>
          </a:xfrm>
          <a:prstGeom prst="rect">
            <a:avLst/>
          </a:prstGeom>
          <a:noFill/>
        </p:spPr>
        <p:txBody>
          <a:bodyPr wrap="square">
            <a:spAutoFit/>
          </a:bodyPr>
          <a:lstStyle/>
          <a:p>
            <a:pPr algn="just">
              <a:lnSpc>
                <a:spcPct val="150000"/>
              </a:lnSpc>
              <a:buNone/>
            </a:pPr>
            <a:r>
              <a:rPr lang="en-US" sz="3000" b="1" dirty="0">
                <a:latin typeface="Times New Roman" panose="02020603050405020304" pitchFamily="18" charset="0"/>
                <a:cs typeface="Times New Roman" panose="02020603050405020304" pitchFamily="18" charset="0"/>
              </a:rPr>
              <a:t>2.Random Forest Valuation (2023)</a:t>
            </a:r>
          </a:p>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r>
              <a:rPr lang="en-US" sz="3000" b="1" dirty="0">
                <a:latin typeface="Times New Roman" panose="02020603050405020304" pitchFamily="18" charset="0"/>
                <a:cs typeface="Times New Roman" panose="02020603050405020304" pitchFamily="18" charset="0"/>
              </a:rPr>
              <a:t>Author:</a:t>
            </a:r>
            <a:r>
              <a:rPr lang="en-US" sz="3000" dirty="0">
                <a:latin typeface="Times New Roman" panose="02020603050405020304" pitchFamily="18" charset="0"/>
                <a:cs typeface="Times New Roman" panose="02020603050405020304" pitchFamily="18" charset="0"/>
              </a:rPr>
              <a:t> Lee et al.</a:t>
            </a:r>
          </a:p>
          <a:p>
            <a:pPr algn="just">
              <a:lnSpc>
                <a:spcPct val="150000"/>
              </a:lnSpc>
              <a:buNone/>
            </a:pPr>
            <a:endParaRPr lang="en-US" sz="3000" dirty="0">
              <a:latin typeface="Times New Roman" panose="02020603050405020304" pitchFamily="18" charset="0"/>
              <a:cs typeface="Times New Roman" panose="02020603050405020304" pitchFamily="18" charset="0"/>
            </a:endParaRPr>
          </a:p>
          <a:p>
            <a:pPr algn="just">
              <a:lnSpc>
                <a:spcPct val="150000"/>
              </a:lnSpc>
              <a:buNone/>
            </a:pPr>
            <a:r>
              <a:rPr lang="en-US" sz="3000" dirty="0">
                <a:latin typeface="Times New Roman" panose="02020603050405020304" pitchFamily="18" charset="0"/>
                <a:cs typeface="Times New Roman" panose="02020603050405020304" pitchFamily="18" charset="0"/>
              </a:rPr>
              <a:t>The authors applied Random Forest, an ensemble Machine Learning technique, to predict house prices using real estate datasets with missing values. The model achieved higher accuracy compared to traditional Ordinary Least Square regression. The study proved that tree-based models perform better in handling non-linear relationships and feature interactions.</a:t>
            </a:r>
          </a:p>
        </p:txBody>
      </p:sp>
      <p:pic>
        <p:nvPicPr>
          <p:cNvPr id="4" name="object 6">
            <a:extLst>
              <a:ext uri="{FF2B5EF4-FFF2-40B4-BE49-F238E27FC236}">
                <a16:creationId xmlns:a16="http://schemas.microsoft.com/office/drawing/2014/main" id="{116CA4A8-259F-2890-237B-41A9B7D49A4F}"/>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760F7453-CA54-6E7D-5FF5-285839A1A2BB}"/>
              </a:ext>
            </a:extLst>
          </p:cNvPr>
          <p:cNvPicPr/>
          <p:nvPr/>
        </p:nvPicPr>
        <p:blipFill>
          <a:blip r:embed="rId3" cstate="print"/>
          <a:stretch>
            <a:fillRect/>
          </a:stretch>
        </p:blipFill>
        <p:spPr>
          <a:xfrm>
            <a:off x="0" y="1"/>
            <a:ext cx="1421881" cy="1409388"/>
          </a:xfrm>
          <a:prstGeom prst="rect">
            <a:avLst/>
          </a:prstGeom>
        </p:spPr>
      </p:pic>
      <p:sp>
        <p:nvSpPr>
          <p:cNvPr id="6" name="object 9">
            <a:extLst>
              <a:ext uri="{FF2B5EF4-FFF2-40B4-BE49-F238E27FC236}">
                <a16:creationId xmlns:a16="http://schemas.microsoft.com/office/drawing/2014/main" id="{C9939F2E-C1AC-6BA8-E913-F16F136D21A8}"/>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7" name="object 10">
            <a:extLst>
              <a:ext uri="{FF2B5EF4-FFF2-40B4-BE49-F238E27FC236}">
                <a16:creationId xmlns:a16="http://schemas.microsoft.com/office/drawing/2014/main" id="{07F4DAB8-0453-114B-72C0-B06A36D04BD9}"/>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8" name="object 3">
            <a:extLst>
              <a:ext uri="{FF2B5EF4-FFF2-40B4-BE49-F238E27FC236}">
                <a16:creationId xmlns:a16="http://schemas.microsoft.com/office/drawing/2014/main" id="{51183048-87B6-D780-7EC1-8FE9673DFE29}"/>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07</a:t>
            </a:r>
            <a:endParaRPr sz="1787" dirty="0">
              <a:latin typeface="Calibri"/>
              <a:cs typeface="Calibri"/>
            </a:endParaRPr>
          </a:p>
        </p:txBody>
      </p:sp>
    </p:spTree>
    <p:extLst>
      <p:ext uri="{BB962C8B-B14F-4D97-AF65-F5344CB8AC3E}">
        <p14:creationId xmlns:p14="http://schemas.microsoft.com/office/powerpoint/2010/main" val="2277419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7DA465-95BE-FC11-7F2B-B7E50ED1571F}"/>
              </a:ext>
            </a:extLst>
          </p:cNvPr>
          <p:cNvSpPr txBox="1"/>
          <p:nvPr/>
        </p:nvSpPr>
        <p:spPr>
          <a:xfrm>
            <a:off x="1975136" y="2301875"/>
            <a:ext cx="16535257" cy="5549340"/>
          </a:xfrm>
          <a:prstGeom prst="rect">
            <a:avLst/>
          </a:prstGeom>
          <a:noFill/>
        </p:spPr>
        <p:txBody>
          <a:bodyPr wrap="square">
            <a:spAutoFit/>
          </a:bodyPr>
          <a:lstStyle/>
          <a:p>
            <a:pPr algn="just">
              <a:lnSpc>
                <a:spcPct val="150000"/>
              </a:lnSpc>
              <a:buNone/>
            </a:pPr>
            <a:r>
              <a:rPr lang="en-US" sz="3000" b="1" dirty="0">
                <a:latin typeface="Times New Roman" panose="02020603050405020304" pitchFamily="18" charset="0"/>
                <a:cs typeface="Times New Roman" panose="02020603050405020304" pitchFamily="18" charset="0"/>
              </a:rPr>
              <a:t>3 .Gradient Boosting Price Prediction (2024)</a:t>
            </a:r>
          </a:p>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r>
              <a:rPr lang="en-US" sz="3000" b="1" dirty="0">
                <a:latin typeface="Times New Roman" panose="02020603050405020304" pitchFamily="18" charset="0"/>
                <a:cs typeface="Times New Roman" panose="02020603050405020304" pitchFamily="18" charset="0"/>
              </a:rPr>
              <a:t>Author:</a:t>
            </a:r>
            <a:r>
              <a:rPr lang="en-US" sz="3000" dirty="0">
                <a:latin typeface="Times New Roman" panose="02020603050405020304" pitchFamily="18" charset="0"/>
                <a:cs typeface="Times New Roman" panose="02020603050405020304" pitchFamily="18" charset="0"/>
              </a:rPr>
              <a:t> Wang et al.</a:t>
            </a:r>
          </a:p>
          <a:p>
            <a:pPr algn="just">
              <a:lnSpc>
                <a:spcPct val="150000"/>
              </a:lnSpc>
              <a:buNone/>
            </a:pPr>
            <a:endParaRPr lang="en-US" sz="3000" dirty="0">
              <a:latin typeface="Times New Roman" panose="02020603050405020304" pitchFamily="18" charset="0"/>
              <a:cs typeface="Times New Roman" panose="02020603050405020304" pitchFamily="18" charset="0"/>
            </a:endParaRPr>
          </a:p>
          <a:p>
            <a:pPr algn="just">
              <a:lnSpc>
                <a:spcPct val="150000"/>
              </a:lnSpc>
              <a:buNone/>
            </a:pPr>
            <a:r>
              <a:rPr lang="en-US" sz="3000" dirty="0">
                <a:latin typeface="Times New Roman" panose="02020603050405020304" pitchFamily="18" charset="0"/>
                <a:cs typeface="Times New Roman" panose="02020603050405020304" pitchFamily="18" charset="0"/>
              </a:rPr>
              <a:t>This research implemented Gradient Boosting algorithms to improve real estate price prediction accuracy. The model effectively captured complex market patterns and reduced prediction error. However, the approach required higher computational resources and careful parameter tuning, highlighting the need for optimization in large-scale datasets.</a:t>
            </a:r>
          </a:p>
        </p:txBody>
      </p:sp>
      <p:pic>
        <p:nvPicPr>
          <p:cNvPr id="4" name="object 6">
            <a:extLst>
              <a:ext uri="{FF2B5EF4-FFF2-40B4-BE49-F238E27FC236}">
                <a16:creationId xmlns:a16="http://schemas.microsoft.com/office/drawing/2014/main" id="{0EC0628F-C1C8-220D-4BAD-CAD1F30C9056}"/>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FA2AD2AD-BFC9-8D6E-2935-AC7AA2B0FCDE}"/>
              </a:ext>
            </a:extLst>
          </p:cNvPr>
          <p:cNvPicPr/>
          <p:nvPr/>
        </p:nvPicPr>
        <p:blipFill>
          <a:blip r:embed="rId3" cstate="print"/>
          <a:stretch>
            <a:fillRect/>
          </a:stretch>
        </p:blipFill>
        <p:spPr>
          <a:xfrm>
            <a:off x="0" y="1"/>
            <a:ext cx="1421881" cy="1409388"/>
          </a:xfrm>
          <a:prstGeom prst="rect">
            <a:avLst/>
          </a:prstGeom>
        </p:spPr>
      </p:pic>
      <p:sp>
        <p:nvSpPr>
          <p:cNvPr id="6" name="object 9">
            <a:extLst>
              <a:ext uri="{FF2B5EF4-FFF2-40B4-BE49-F238E27FC236}">
                <a16:creationId xmlns:a16="http://schemas.microsoft.com/office/drawing/2014/main" id="{1DEACC4A-1457-A48C-C2AE-E06B5C5138D4}"/>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7" name="object 10">
            <a:extLst>
              <a:ext uri="{FF2B5EF4-FFF2-40B4-BE49-F238E27FC236}">
                <a16:creationId xmlns:a16="http://schemas.microsoft.com/office/drawing/2014/main" id="{6BAE74F6-A02C-3B62-1C9C-D59F6FD67FF3}"/>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8" name="object 3">
            <a:extLst>
              <a:ext uri="{FF2B5EF4-FFF2-40B4-BE49-F238E27FC236}">
                <a16:creationId xmlns:a16="http://schemas.microsoft.com/office/drawing/2014/main" id="{94521407-5C96-3227-842E-41E145BB0B55}"/>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08</a:t>
            </a:r>
            <a:endParaRPr sz="1787" dirty="0">
              <a:latin typeface="Calibri"/>
              <a:cs typeface="Calibri"/>
            </a:endParaRPr>
          </a:p>
        </p:txBody>
      </p:sp>
    </p:spTree>
    <p:extLst>
      <p:ext uri="{BB962C8B-B14F-4D97-AF65-F5344CB8AC3E}">
        <p14:creationId xmlns:p14="http://schemas.microsoft.com/office/powerpoint/2010/main" val="98583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529ECA-4E2D-B296-A507-29163DFD0AB2}"/>
              </a:ext>
            </a:extLst>
          </p:cNvPr>
          <p:cNvSpPr txBox="1"/>
          <p:nvPr/>
        </p:nvSpPr>
        <p:spPr>
          <a:xfrm>
            <a:off x="2737588" y="2187508"/>
            <a:ext cx="14560550" cy="6934334"/>
          </a:xfrm>
          <a:prstGeom prst="rect">
            <a:avLst/>
          </a:prstGeom>
          <a:noFill/>
        </p:spPr>
        <p:txBody>
          <a:bodyPr wrap="square">
            <a:spAutoFit/>
          </a:bodyPr>
          <a:lstStyle/>
          <a:p>
            <a:pPr algn="just">
              <a:lnSpc>
                <a:spcPct val="150000"/>
              </a:lnSpc>
              <a:buNone/>
            </a:pPr>
            <a:r>
              <a:rPr lang="en-US" sz="3000" b="1" dirty="0">
                <a:latin typeface="Times New Roman" panose="02020603050405020304" pitchFamily="18" charset="0"/>
                <a:cs typeface="Times New Roman" panose="02020603050405020304" pitchFamily="18" charset="0"/>
              </a:rPr>
              <a:t>4. Neural Network–Based House Price Prediction (2023)</a:t>
            </a:r>
          </a:p>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r>
              <a:rPr lang="en-US" sz="3000" b="1" dirty="0">
                <a:latin typeface="Times New Roman" panose="02020603050405020304" pitchFamily="18" charset="0"/>
                <a:cs typeface="Times New Roman" panose="02020603050405020304" pitchFamily="18" charset="0"/>
              </a:rPr>
              <a:t>Author:</a:t>
            </a:r>
            <a:r>
              <a:rPr lang="en-US" sz="3000" dirty="0">
                <a:latin typeface="Times New Roman" panose="02020603050405020304" pitchFamily="18" charset="0"/>
                <a:cs typeface="Times New Roman" panose="02020603050405020304" pitchFamily="18" charset="0"/>
              </a:rPr>
              <a:t> Patel et al.</a:t>
            </a:r>
          </a:p>
          <a:p>
            <a:pPr algn="just">
              <a:lnSpc>
                <a:spcPct val="150000"/>
              </a:lnSpc>
              <a:buNone/>
            </a:pPr>
            <a:endParaRPr lang="en-US" sz="3000" dirty="0">
              <a:latin typeface="Times New Roman" panose="02020603050405020304" pitchFamily="18" charset="0"/>
              <a:cs typeface="Times New Roman" panose="02020603050405020304" pitchFamily="18" charset="0"/>
            </a:endParaRPr>
          </a:p>
          <a:p>
            <a:pPr algn="just">
              <a:lnSpc>
                <a:spcPct val="150000"/>
              </a:lnSpc>
              <a:buNone/>
            </a:pPr>
            <a:r>
              <a:rPr lang="en-US" sz="3000" dirty="0">
                <a:latin typeface="Times New Roman" panose="02020603050405020304" pitchFamily="18" charset="0"/>
                <a:cs typeface="Times New Roman" panose="02020603050405020304" pitchFamily="18" charset="0"/>
              </a:rPr>
              <a:t>This study applied Artificial Neural Networks (ANN) to predict house prices using multiple property features and historical market data. The model successfully learned complex non-linear relationships between inputs and prices, achieving improved prediction accuracy compared to traditional regression methods. However, the approach required large training datasets and higher computational resources, which limited its practical deployment in real-time systems.</a:t>
            </a:r>
          </a:p>
        </p:txBody>
      </p:sp>
      <p:sp>
        <p:nvSpPr>
          <p:cNvPr id="4" name="object 9">
            <a:extLst>
              <a:ext uri="{FF2B5EF4-FFF2-40B4-BE49-F238E27FC236}">
                <a16:creationId xmlns:a16="http://schemas.microsoft.com/office/drawing/2014/main" id="{BD4D2680-78F0-7134-7C7A-450F15FB1AAE}"/>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5" name="object 10">
            <a:extLst>
              <a:ext uri="{FF2B5EF4-FFF2-40B4-BE49-F238E27FC236}">
                <a16:creationId xmlns:a16="http://schemas.microsoft.com/office/drawing/2014/main" id="{73969658-63D0-2329-74F2-DEE0449B3E76}"/>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6" name="object 3">
            <a:extLst>
              <a:ext uri="{FF2B5EF4-FFF2-40B4-BE49-F238E27FC236}">
                <a16:creationId xmlns:a16="http://schemas.microsoft.com/office/drawing/2014/main" id="{0511C599-7410-F0DC-4A1D-3B0562936479}"/>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09</a:t>
            </a:r>
            <a:endParaRPr sz="1787" dirty="0">
              <a:latin typeface="Calibri"/>
              <a:cs typeface="Calibri"/>
            </a:endParaRPr>
          </a:p>
        </p:txBody>
      </p:sp>
      <p:pic>
        <p:nvPicPr>
          <p:cNvPr id="2" name="object 6">
            <a:extLst>
              <a:ext uri="{FF2B5EF4-FFF2-40B4-BE49-F238E27FC236}">
                <a16:creationId xmlns:a16="http://schemas.microsoft.com/office/drawing/2014/main" id="{C9809FD3-CF94-5A4C-5699-F76BCD19086B}"/>
              </a:ext>
            </a:extLst>
          </p:cNvPr>
          <p:cNvPicPr/>
          <p:nvPr/>
        </p:nvPicPr>
        <p:blipFill>
          <a:blip r:embed="rId2" cstate="print"/>
          <a:stretch>
            <a:fillRect/>
          </a:stretch>
        </p:blipFill>
        <p:spPr>
          <a:xfrm>
            <a:off x="0" y="1"/>
            <a:ext cx="1421881" cy="1409388"/>
          </a:xfrm>
          <a:prstGeom prst="rect">
            <a:avLst/>
          </a:prstGeom>
        </p:spPr>
      </p:pic>
      <p:pic>
        <p:nvPicPr>
          <p:cNvPr id="7" name="object 6">
            <a:extLst>
              <a:ext uri="{FF2B5EF4-FFF2-40B4-BE49-F238E27FC236}">
                <a16:creationId xmlns:a16="http://schemas.microsoft.com/office/drawing/2014/main" id="{68B530CB-DD94-F37F-3AED-0F2B3D3D1F65}"/>
              </a:ext>
            </a:extLst>
          </p:cNvPr>
          <p:cNvPicPr/>
          <p:nvPr/>
        </p:nvPicPr>
        <p:blipFill>
          <a:blip r:embed="rId3" cstate="print"/>
          <a:stretch>
            <a:fillRect/>
          </a:stretch>
        </p:blipFill>
        <p:spPr>
          <a:xfrm>
            <a:off x="17900507" y="0"/>
            <a:ext cx="1831561" cy="1746207"/>
          </a:xfrm>
          <a:prstGeom prst="rect">
            <a:avLst/>
          </a:prstGeom>
        </p:spPr>
      </p:pic>
    </p:spTree>
    <p:extLst>
      <p:ext uri="{BB962C8B-B14F-4D97-AF65-F5344CB8AC3E}">
        <p14:creationId xmlns:p14="http://schemas.microsoft.com/office/powerpoint/2010/main" val="354277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1CE442-FB6D-BEEA-A2A4-0AF72ECE89CE}"/>
              </a:ext>
            </a:extLst>
          </p:cNvPr>
          <p:cNvSpPr txBox="1"/>
          <p:nvPr/>
        </p:nvSpPr>
        <p:spPr>
          <a:xfrm>
            <a:off x="1390131" y="1746207"/>
            <a:ext cx="17526000" cy="6703502"/>
          </a:xfrm>
          <a:prstGeom prst="rect">
            <a:avLst/>
          </a:prstGeom>
          <a:noFill/>
        </p:spPr>
        <p:txBody>
          <a:bodyPr wrap="square">
            <a:spAutoFit/>
          </a:bodyPr>
          <a:lstStyle/>
          <a:p>
            <a:pPr algn="ctr">
              <a:lnSpc>
                <a:spcPct val="150000"/>
              </a:lnSpc>
              <a:buNone/>
            </a:pPr>
            <a:r>
              <a:rPr lang="en-US" sz="5000" b="1" dirty="0">
                <a:latin typeface="Times New Roman" panose="02020603050405020304" pitchFamily="18" charset="0"/>
                <a:cs typeface="Times New Roman" panose="02020603050405020304" pitchFamily="18" charset="0"/>
              </a:rPr>
              <a:t>EXISTING SYSTEM</a:t>
            </a:r>
          </a:p>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endParaRPr lang="en-US" sz="3000" b="1" dirty="0">
              <a:latin typeface="Times New Roman" panose="02020603050405020304" pitchFamily="18" charset="0"/>
              <a:cs typeface="Times New Roman" panose="02020603050405020304" pitchFamily="18" charset="0"/>
            </a:endParaRPr>
          </a:p>
          <a:p>
            <a:pPr algn="just">
              <a:lnSpc>
                <a:spcPct val="150000"/>
              </a:lnSpc>
              <a:buNone/>
            </a:pPr>
            <a:r>
              <a:rPr lang="en-US" sz="3000" dirty="0">
                <a:latin typeface="Times New Roman" panose="02020603050405020304" pitchFamily="18" charset="0"/>
                <a:cs typeface="Times New Roman" panose="02020603050405020304" pitchFamily="18" charset="0"/>
              </a:rPr>
              <a:t>Now-a-days, house price estimation is mostly carried out using traditional valuation methods that rely on manual analysis, broker experience, and local market knowledge. These approaches often lack accuracy due to limited data processing and subjective decision-making. Existing systems generally use basic statistical techniques that fail to capture complex relationships between multiple property features such as location, size, amenities, and market conditions. As a result, price predictions are inconsistent and may not reflect real-time market trends, leading to unreliable property valuation and decision-making.</a:t>
            </a:r>
          </a:p>
        </p:txBody>
      </p:sp>
      <p:pic>
        <p:nvPicPr>
          <p:cNvPr id="4" name="object 6">
            <a:extLst>
              <a:ext uri="{FF2B5EF4-FFF2-40B4-BE49-F238E27FC236}">
                <a16:creationId xmlns:a16="http://schemas.microsoft.com/office/drawing/2014/main" id="{62D5C09F-01E1-3A80-757C-8BB3B6FC5E96}"/>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D24B37F2-F971-F3CD-A95E-2E97C4CF135C}"/>
              </a:ext>
            </a:extLst>
          </p:cNvPr>
          <p:cNvPicPr/>
          <p:nvPr/>
        </p:nvPicPr>
        <p:blipFill>
          <a:blip r:embed="rId3" cstate="print"/>
          <a:stretch>
            <a:fillRect/>
          </a:stretch>
        </p:blipFill>
        <p:spPr>
          <a:xfrm>
            <a:off x="0" y="1"/>
            <a:ext cx="1421881" cy="1409388"/>
          </a:xfrm>
          <a:prstGeom prst="rect">
            <a:avLst/>
          </a:prstGeom>
        </p:spPr>
      </p:pic>
      <p:sp>
        <p:nvSpPr>
          <p:cNvPr id="7" name="object 9">
            <a:extLst>
              <a:ext uri="{FF2B5EF4-FFF2-40B4-BE49-F238E27FC236}">
                <a16:creationId xmlns:a16="http://schemas.microsoft.com/office/drawing/2014/main" id="{4C46947A-1CF7-5E36-E1DC-9222844D71F7}"/>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AF879CE8-B375-7AFF-EC42-2C56F67C0F48}"/>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9" name="object 3">
            <a:extLst>
              <a:ext uri="{FF2B5EF4-FFF2-40B4-BE49-F238E27FC236}">
                <a16:creationId xmlns:a16="http://schemas.microsoft.com/office/drawing/2014/main" id="{6A271029-ADE8-931F-9804-38EE76AFFD2F}"/>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10</a:t>
            </a:r>
            <a:endParaRPr sz="1787" dirty="0">
              <a:latin typeface="Calibri"/>
              <a:cs typeface="Calibri"/>
            </a:endParaRPr>
          </a:p>
        </p:txBody>
      </p:sp>
    </p:spTree>
    <p:extLst>
      <p:ext uri="{BB962C8B-B14F-4D97-AF65-F5344CB8AC3E}">
        <p14:creationId xmlns:p14="http://schemas.microsoft.com/office/powerpoint/2010/main" val="2448373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25369A-D8D5-D218-8ABB-C61C2E5E7CD3}"/>
              </a:ext>
            </a:extLst>
          </p:cNvPr>
          <p:cNvSpPr txBox="1"/>
          <p:nvPr/>
        </p:nvSpPr>
        <p:spPr>
          <a:xfrm>
            <a:off x="6242050" y="1006475"/>
            <a:ext cx="10058400" cy="1631216"/>
          </a:xfrm>
          <a:prstGeom prst="rect">
            <a:avLst/>
          </a:prstGeom>
          <a:noFill/>
        </p:spPr>
        <p:txBody>
          <a:bodyPr wrap="square">
            <a:spAutoFit/>
          </a:bodyPr>
          <a:lstStyle/>
          <a:p>
            <a:r>
              <a:rPr lang="en-IN" sz="5000" b="1" dirty="0">
                <a:solidFill>
                  <a:schemeClr val="tx1"/>
                </a:solidFill>
                <a:latin typeface="Times New Roman" panose="02020603050405020304" pitchFamily="18" charset="0"/>
                <a:cs typeface="Times New Roman" panose="02020603050405020304" pitchFamily="18" charset="0"/>
              </a:rPr>
              <a:t>DISADVANTAGES </a:t>
            </a:r>
          </a:p>
          <a:p>
            <a:endParaRPr lang="en-IN" sz="5000" b="1" dirty="0">
              <a:solidFill>
                <a:schemeClr val="tx1"/>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0D706FA8-CD9C-C2AE-F4FC-9542A7C97BA9}"/>
              </a:ext>
            </a:extLst>
          </p:cNvPr>
          <p:cNvSpPr>
            <a:spLocks noGrp="1" noChangeArrowheads="1"/>
          </p:cNvSpPr>
          <p:nvPr>
            <p:ph type="subTitle" idx="4"/>
          </p:nvPr>
        </p:nvSpPr>
        <p:spPr bwMode="auto">
          <a:xfrm>
            <a:off x="2965982" y="3468687"/>
            <a:ext cx="6630341"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Highly dependent on human judgment</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prediction accuracy</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handle complex data patterns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manual process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real-time market analysis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lang="en-US" sz="3000" dirty="0">
                <a:solidFill>
                  <a:schemeClr val="tx1"/>
                </a:solidFill>
                <a:latin typeface="Times New Roman" panose="02020603050405020304" pitchFamily="18" charset="0"/>
                <a:cs typeface="Times New Roman" panose="02020603050405020304" pitchFamily="18" charset="0"/>
              </a:rPr>
              <a:t>Prone to human bias and errors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lang="en-US" sz="3000" dirty="0">
                <a:solidFill>
                  <a:schemeClr val="tx1"/>
                </a:solidFill>
                <a:latin typeface="Times New Roman" panose="02020603050405020304" pitchFamily="18" charset="0"/>
                <a:cs typeface="Times New Roman" panose="02020603050405020304" pitchFamily="18" charset="0"/>
              </a:rPr>
              <a:t>Limited scalability for large datasets</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object 6">
            <a:extLst>
              <a:ext uri="{FF2B5EF4-FFF2-40B4-BE49-F238E27FC236}">
                <a16:creationId xmlns:a16="http://schemas.microsoft.com/office/drawing/2014/main" id="{2D28F52F-6DD9-C315-129F-5D057DCB4FFB}"/>
              </a:ext>
            </a:extLst>
          </p:cNvPr>
          <p:cNvPicPr/>
          <p:nvPr/>
        </p:nvPicPr>
        <p:blipFill>
          <a:blip r:embed="rId2" cstate="print"/>
          <a:stretch>
            <a:fillRect/>
          </a:stretch>
        </p:blipFill>
        <p:spPr>
          <a:xfrm>
            <a:off x="0" y="1"/>
            <a:ext cx="1421881" cy="1409388"/>
          </a:xfrm>
          <a:prstGeom prst="rect">
            <a:avLst/>
          </a:prstGeom>
        </p:spPr>
      </p:pic>
      <p:pic>
        <p:nvPicPr>
          <p:cNvPr id="11" name="object 6">
            <a:extLst>
              <a:ext uri="{FF2B5EF4-FFF2-40B4-BE49-F238E27FC236}">
                <a16:creationId xmlns:a16="http://schemas.microsoft.com/office/drawing/2014/main" id="{BE4CC36C-C467-91A2-BFE3-A43951462959}"/>
              </a:ext>
            </a:extLst>
          </p:cNvPr>
          <p:cNvPicPr/>
          <p:nvPr/>
        </p:nvPicPr>
        <p:blipFill>
          <a:blip r:embed="rId3" cstate="print"/>
          <a:stretch>
            <a:fillRect/>
          </a:stretch>
        </p:blipFill>
        <p:spPr>
          <a:xfrm>
            <a:off x="17900507" y="0"/>
            <a:ext cx="1831561" cy="1746207"/>
          </a:xfrm>
          <a:prstGeom prst="rect">
            <a:avLst/>
          </a:prstGeom>
        </p:spPr>
      </p:pic>
      <p:sp>
        <p:nvSpPr>
          <p:cNvPr id="12" name="object 9">
            <a:extLst>
              <a:ext uri="{FF2B5EF4-FFF2-40B4-BE49-F238E27FC236}">
                <a16:creationId xmlns:a16="http://schemas.microsoft.com/office/drawing/2014/main" id="{615BC105-DDB9-4401-4DD9-EBCE4A9D3CF7}"/>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3" name="object 10">
            <a:extLst>
              <a:ext uri="{FF2B5EF4-FFF2-40B4-BE49-F238E27FC236}">
                <a16:creationId xmlns:a16="http://schemas.microsoft.com/office/drawing/2014/main" id="{66E06F9E-8ADC-5CC2-37B7-0C74B02E6E7D}"/>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14" name="object 3">
            <a:extLst>
              <a:ext uri="{FF2B5EF4-FFF2-40B4-BE49-F238E27FC236}">
                <a16:creationId xmlns:a16="http://schemas.microsoft.com/office/drawing/2014/main" id="{A4B879FD-26D7-4EA9-92EA-15874794DAAA}"/>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11</a:t>
            </a:r>
            <a:endParaRPr sz="1787" dirty="0">
              <a:latin typeface="Calibri"/>
              <a:cs typeface="Calibri"/>
            </a:endParaRPr>
          </a:p>
        </p:txBody>
      </p:sp>
    </p:spTree>
    <p:extLst>
      <p:ext uri="{BB962C8B-B14F-4D97-AF65-F5344CB8AC3E}">
        <p14:creationId xmlns:p14="http://schemas.microsoft.com/office/powerpoint/2010/main" val="3710065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5784850" y="890090"/>
            <a:ext cx="10964430" cy="915731"/>
          </a:xfrm>
          <a:prstGeom prst="rect">
            <a:avLst/>
          </a:prstGeom>
        </p:spPr>
        <p:txBody>
          <a:bodyPr vert="horz" wrap="square" lIns="0" tIns="144875" rIns="0" bIns="0" rtlCol="0">
            <a:spAutoFit/>
          </a:bodyPr>
          <a:lstStyle/>
          <a:p>
            <a:pPr marL="50800">
              <a:lnSpc>
                <a:spcPct val="100000"/>
              </a:lnSpc>
              <a:spcBef>
                <a:spcPts val="105"/>
              </a:spcBef>
            </a:pPr>
            <a:r>
              <a:rPr lang="en-IN" sz="5000" b="1" spc="50" dirty="0">
                <a:solidFill>
                  <a:schemeClr val="tx1"/>
                </a:solidFill>
                <a:latin typeface="Times New Roman" panose="02020603050405020304" pitchFamily="18" charset="0"/>
                <a:cs typeface="Times New Roman" panose="02020603050405020304" pitchFamily="18" charset="0"/>
              </a:rPr>
              <a:t>PROPOSED</a:t>
            </a:r>
            <a:r>
              <a:rPr lang="en-IN" sz="5000" b="1" spc="-170" dirty="0">
                <a:solidFill>
                  <a:schemeClr val="tx1"/>
                </a:solidFill>
                <a:latin typeface="Times New Roman" panose="02020603050405020304" pitchFamily="18" charset="0"/>
                <a:cs typeface="Times New Roman" panose="02020603050405020304" pitchFamily="18" charset="0"/>
              </a:rPr>
              <a:t> </a:t>
            </a:r>
            <a:r>
              <a:rPr lang="en-IN" sz="5000" b="1" spc="245" dirty="0">
                <a:solidFill>
                  <a:schemeClr val="tx1"/>
                </a:solidFill>
                <a:latin typeface="Times New Roman" panose="02020603050405020304" pitchFamily="18" charset="0"/>
                <a:cs typeface="Times New Roman" panose="02020603050405020304" pitchFamily="18" charset="0"/>
              </a:rPr>
              <a:t>SYSTEM</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7" name="object 6">
            <a:extLst>
              <a:ext uri="{FF2B5EF4-FFF2-40B4-BE49-F238E27FC236}">
                <a16:creationId xmlns:a16="http://schemas.microsoft.com/office/drawing/2014/main" id="{D7B611A5-37F8-ED5C-2D93-201DFF1A9F8F}"/>
              </a:ext>
            </a:extLst>
          </p:cNvPr>
          <p:cNvPicPr/>
          <p:nvPr/>
        </p:nvPicPr>
        <p:blipFill>
          <a:blip r:embed="rId2" cstate="print"/>
          <a:stretch>
            <a:fillRect/>
          </a:stretch>
        </p:blipFill>
        <p:spPr>
          <a:xfrm>
            <a:off x="0" y="1"/>
            <a:ext cx="1421881" cy="1409388"/>
          </a:xfrm>
          <a:prstGeom prst="rect">
            <a:avLst/>
          </a:prstGeom>
        </p:spPr>
      </p:pic>
      <p:sp>
        <p:nvSpPr>
          <p:cNvPr id="4" name="object 3">
            <a:extLst>
              <a:ext uri="{FF2B5EF4-FFF2-40B4-BE49-F238E27FC236}">
                <a16:creationId xmlns:a16="http://schemas.microsoft.com/office/drawing/2014/main" id="{FA6292DA-2A61-4DA4-3FA1-876F52895A16}"/>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12</a:t>
            </a:r>
            <a:endParaRPr sz="1787" dirty="0">
              <a:latin typeface="Calibri"/>
              <a:cs typeface="Calibri"/>
            </a:endParaRPr>
          </a:p>
        </p:txBody>
      </p:sp>
      <p:sp>
        <p:nvSpPr>
          <p:cNvPr id="8" name="object 9">
            <a:extLst>
              <a:ext uri="{FF2B5EF4-FFF2-40B4-BE49-F238E27FC236}">
                <a16:creationId xmlns:a16="http://schemas.microsoft.com/office/drawing/2014/main" id="{71119EC7-D3F6-5574-1CF9-BAE98BB5400C}"/>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010</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9" name="object 10">
            <a:extLst>
              <a:ext uri="{FF2B5EF4-FFF2-40B4-BE49-F238E27FC236}">
                <a16:creationId xmlns:a16="http://schemas.microsoft.com/office/drawing/2014/main" id="{F635CC94-0AAF-7CCE-3269-AA1F4ED1DC96}"/>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A8D60612-04F8-6D10-D9FF-85F35D9EC8A1}"/>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06AE87D3-E057-D43B-F7D7-4728242221AB}"/>
              </a:ext>
            </a:extLst>
          </p:cNvPr>
          <p:cNvSpPr txBox="1"/>
          <p:nvPr/>
        </p:nvSpPr>
        <p:spPr>
          <a:xfrm>
            <a:off x="2656945" y="2915463"/>
            <a:ext cx="14471650" cy="6241837"/>
          </a:xfrm>
          <a:prstGeom prst="rect">
            <a:avLst/>
          </a:prstGeom>
          <a:noFill/>
        </p:spPr>
        <p:txBody>
          <a:bodyPr wrap="square">
            <a:spAutoFit/>
          </a:bodyPr>
          <a:lstStyle/>
          <a:p>
            <a:pPr algn="just">
              <a:lnSpc>
                <a:spcPct val="150000"/>
              </a:lnSpc>
              <a:buNone/>
            </a:pPr>
            <a:r>
              <a:rPr lang="en-US" sz="3000" dirty="0">
                <a:latin typeface="Times New Roman" panose="02020603050405020304" pitchFamily="18" charset="0"/>
                <a:cs typeface="Times New Roman" panose="02020603050405020304" pitchFamily="18" charset="0"/>
              </a:rPr>
              <a:t>The proposed system uses Machine Learning techniques to automate and improve house price prediction. A robust ML pipeline is developed using Python and advanced regression algorithms such as XGBoost. The system preprocesses raw real estate data by cleaning missing values and handling outliers. Categorical attributes are converted into numerical features for effective model training.</a:t>
            </a:r>
          </a:p>
          <a:p>
            <a:pPr algn="just">
              <a:lnSpc>
                <a:spcPct val="150000"/>
              </a:lnSpc>
            </a:pPr>
            <a:r>
              <a:rPr lang="en-US" sz="3000" dirty="0">
                <a:latin typeface="Times New Roman" panose="02020603050405020304" pitchFamily="18" charset="0"/>
                <a:cs typeface="Times New Roman" panose="02020603050405020304" pitchFamily="18" charset="0"/>
              </a:rPr>
              <a:t> The model assigns objective weights to important features influencing property prices. It enables accurate and real-time price estimation based on market data. Ensemble learning techniques are used to capture complex pricing patterns. This approach ensures higher accuracy, reduced bias, and reliable trend forecasting.</a:t>
            </a:r>
            <a:r>
              <a:rPr lang="en-US" sz="3000" dirty="0">
                <a:solidFill>
                  <a:schemeClr val="tx1"/>
                </a:solidFill>
                <a:latin typeface="Times New Roman" panose="02020603050405020304" pitchFamily="18" charset="0"/>
                <a:cs typeface="Times New Roman" panose="02020603050405020304" pitchFamily="18" charset="0"/>
              </a:rPr>
              <a:t> </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6">
            <a:extLst>
              <a:ext uri="{FF2B5EF4-FFF2-40B4-BE49-F238E27FC236}">
                <a16:creationId xmlns:a16="http://schemas.microsoft.com/office/drawing/2014/main" id="{DDDEBB5D-0FBC-893E-761E-FF41C01D6509}"/>
              </a:ext>
            </a:extLst>
          </p:cNvPr>
          <p:cNvPicPr/>
          <p:nvPr/>
        </p:nvPicPr>
        <p:blipFill>
          <a:blip r:embed="rId2" cstate="print"/>
          <a:stretch>
            <a:fillRect/>
          </a:stretch>
        </p:blipFill>
        <p:spPr>
          <a:xfrm>
            <a:off x="0" y="1"/>
            <a:ext cx="1421881" cy="1409388"/>
          </a:xfrm>
          <a:prstGeom prst="rect">
            <a:avLst/>
          </a:prstGeom>
        </p:spPr>
      </p:pic>
      <p:sp>
        <p:nvSpPr>
          <p:cNvPr id="3" name="Title 2">
            <a:extLst>
              <a:ext uri="{FF2B5EF4-FFF2-40B4-BE49-F238E27FC236}">
                <a16:creationId xmlns:a16="http://schemas.microsoft.com/office/drawing/2014/main" id="{2DFF7E55-93AB-205A-D790-265683CCB4EF}"/>
              </a:ext>
            </a:extLst>
          </p:cNvPr>
          <p:cNvSpPr>
            <a:spLocks noGrp="1"/>
          </p:cNvSpPr>
          <p:nvPr>
            <p:ph type="title"/>
          </p:nvPr>
        </p:nvSpPr>
        <p:spPr>
          <a:xfrm>
            <a:off x="4410555" y="869237"/>
            <a:ext cx="10964430" cy="2308324"/>
          </a:xfrm>
        </p:spPr>
        <p:txBody>
          <a:bodyPr/>
          <a:lstStyle/>
          <a:p>
            <a:pPr algn="just"/>
            <a:r>
              <a:rPr lang="en-IN" sz="5000" b="1" dirty="0">
                <a:solidFill>
                  <a:schemeClr val="tx1"/>
                </a:solidFill>
                <a:latin typeface="Times New Roman" panose="02020603050405020304" pitchFamily="18" charset="0"/>
                <a:cs typeface="Times New Roman" panose="02020603050405020304" pitchFamily="18" charset="0"/>
              </a:rPr>
              <a:t>ADVANTAGES</a:t>
            </a:r>
            <a:br>
              <a:rPr lang="en-IN" sz="5000" b="1" dirty="0">
                <a:solidFill>
                  <a:schemeClr val="tx1"/>
                </a:solidFill>
                <a:latin typeface="Times New Roman" panose="02020603050405020304" pitchFamily="18" charset="0"/>
                <a:cs typeface="Times New Roman" panose="02020603050405020304" pitchFamily="18" charset="0"/>
              </a:rPr>
            </a:br>
            <a:br>
              <a:rPr lang="en-IN" sz="5000" b="1" dirty="0">
                <a:solidFill>
                  <a:schemeClr val="tx1"/>
                </a:solidFill>
                <a:latin typeface="Times New Roman" panose="02020603050405020304" pitchFamily="18" charset="0"/>
                <a:cs typeface="Times New Roman" panose="02020603050405020304" pitchFamily="18" charset="0"/>
              </a:rPr>
            </a:br>
            <a:endParaRPr lang="en-IN" sz="5000" dirty="0">
              <a:solidFill>
                <a:schemeClr val="tx1"/>
              </a:solidFill>
              <a:latin typeface="Times New Roman" panose="02020603050405020304" pitchFamily="18" charset="0"/>
              <a:cs typeface="Times New Roman" panose="02020603050405020304" pitchFamily="18" charset="0"/>
            </a:endParaRPr>
          </a:p>
        </p:txBody>
      </p:sp>
      <p:sp>
        <p:nvSpPr>
          <p:cNvPr id="8" name="object 3">
            <a:extLst>
              <a:ext uri="{FF2B5EF4-FFF2-40B4-BE49-F238E27FC236}">
                <a16:creationId xmlns:a16="http://schemas.microsoft.com/office/drawing/2014/main" id="{308E4145-4218-28B2-08FA-F4387F18920D}"/>
              </a:ext>
            </a:extLst>
          </p:cNvPr>
          <p:cNvSpPr txBox="1"/>
          <p:nvPr/>
        </p:nvSpPr>
        <p:spPr>
          <a:xfrm>
            <a:off x="17824450"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13</a:t>
            </a:r>
            <a:endParaRPr sz="1787" dirty="0">
              <a:latin typeface="Calibri"/>
              <a:cs typeface="Calibri"/>
            </a:endParaRPr>
          </a:p>
        </p:txBody>
      </p:sp>
      <p:sp>
        <p:nvSpPr>
          <p:cNvPr id="5" name="object 9">
            <a:extLst>
              <a:ext uri="{FF2B5EF4-FFF2-40B4-BE49-F238E27FC236}">
                <a16:creationId xmlns:a16="http://schemas.microsoft.com/office/drawing/2014/main" id="{774D9841-475F-6B93-3D58-88574BCE215B}"/>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6" name="object 10">
            <a:extLst>
              <a:ext uri="{FF2B5EF4-FFF2-40B4-BE49-F238E27FC236}">
                <a16:creationId xmlns:a16="http://schemas.microsoft.com/office/drawing/2014/main" id="{E26A193F-5BD4-E2AE-03A6-C80831CDD561}"/>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7" name="object 6">
            <a:extLst>
              <a:ext uri="{FF2B5EF4-FFF2-40B4-BE49-F238E27FC236}">
                <a16:creationId xmlns:a16="http://schemas.microsoft.com/office/drawing/2014/main" id="{FA8D668A-0645-5C05-CA26-B795884EE06E}"/>
              </a:ext>
            </a:extLst>
          </p:cNvPr>
          <p:cNvPicPr/>
          <p:nvPr/>
        </p:nvPicPr>
        <p:blipFill>
          <a:blip r:embed="rId3" cstate="print"/>
          <a:stretch>
            <a:fillRect/>
          </a:stretch>
        </p:blipFill>
        <p:spPr>
          <a:xfrm>
            <a:off x="17900507" y="0"/>
            <a:ext cx="1831561" cy="1746207"/>
          </a:xfrm>
          <a:prstGeom prst="rect">
            <a:avLst/>
          </a:prstGeom>
        </p:spPr>
      </p:pic>
      <p:sp>
        <p:nvSpPr>
          <p:cNvPr id="9" name="Rectangle 1">
            <a:extLst>
              <a:ext uri="{FF2B5EF4-FFF2-40B4-BE49-F238E27FC236}">
                <a16:creationId xmlns:a16="http://schemas.microsoft.com/office/drawing/2014/main" id="{566E3583-3CAF-53C3-2122-5E0111B8F71A}"/>
              </a:ext>
            </a:extLst>
          </p:cNvPr>
          <p:cNvSpPr>
            <a:spLocks noGrp="1" noChangeArrowheads="1"/>
          </p:cNvSpPr>
          <p:nvPr>
            <p:ph sz="half" idx="2"/>
          </p:nvPr>
        </p:nvSpPr>
        <p:spPr bwMode="auto">
          <a:xfrm>
            <a:off x="2660650" y="3610276"/>
            <a:ext cx="11734800"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High Prediction Accuracy</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Zero Human Bias</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Instant Price Valuation</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Data-Driven Insights</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Massive Data Handling</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Cost Effective Solution</a:t>
            </a:r>
          </a:p>
          <a:p>
            <a:pPr marL="514350" lvl="0" indent="-514350" algn="l" rtl="0" eaLnBrk="0" fontAlgn="base" hangingPunct="0">
              <a:spcBef>
                <a:spcPct val="0"/>
              </a:spcBef>
              <a:spcAft>
                <a:spcPct val="0"/>
              </a:spcAft>
              <a:buFont typeface="+mj-lt"/>
              <a:buAutoNum type="arabicPeriod"/>
            </a:pPr>
            <a:endParaRPr lang="en-US" altLang="en-US" sz="3000" dirty="0">
              <a:solidFill>
                <a:schemeClr val="tx1"/>
              </a:solidFill>
              <a:latin typeface="Times New Roman" panose="02020603050405020304" pitchFamily="18" charset="0"/>
              <a:cs typeface="Times New Roman" panose="02020603050405020304" pitchFamily="18" charset="0"/>
            </a:endParaRPr>
          </a:p>
          <a:p>
            <a:pPr marL="514350" lvl="0" indent="-514350" algn="l" rtl="0" eaLnBrk="0" fontAlgn="base" hangingPunct="0">
              <a:spcBef>
                <a:spcPct val="0"/>
              </a:spcBef>
              <a:spcAft>
                <a:spcPct val="0"/>
              </a:spcAft>
              <a:buFont typeface="+mj-lt"/>
              <a:buAutoNum type="arabicPeriod"/>
            </a:pPr>
            <a:r>
              <a:rPr lang="en-US" altLang="en-US" sz="3000" dirty="0">
                <a:solidFill>
                  <a:schemeClr val="tx1"/>
                </a:solidFill>
                <a:latin typeface="Times New Roman" panose="02020603050405020304" pitchFamily="18" charset="0"/>
                <a:cs typeface="Times New Roman" panose="02020603050405020304" pitchFamily="18" charset="0"/>
              </a:rPr>
              <a:t>Automated Trend Analysis</a:t>
            </a:r>
          </a:p>
        </p:txBody>
      </p:sp>
    </p:spTree>
    <p:extLst>
      <p:ext uri="{BB962C8B-B14F-4D97-AF65-F5344CB8AC3E}">
        <p14:creationId xmlns:p14="http://schemas.microsoft.com/office/powerpoint/2010/main" val="2235250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410555" y="722601"/>
            <a:ext cx="10964430" cy="1736017"/>
          </a:xfrm>
          <a:prstGeom prst="rect">
            <a:avLst/>
          </a:prstGeom>
        </p:spPr>
        <p:txBody>
          <a:bodyPr vert="horz" wrap="square" lIns="0" tIns="195228" rIns="0" bIns="0" rtlCol="0">
            <a:spAutoFit/>
          </a:bodyPr>
          <a:lstStyle/>
          <a:p>
            <a:pPr marL="38735" algn="ctr">
              <a:lnSpc>
                <a:spcPct val="100000"/>
              </a:lnSpc>
              <a:spcBef>
                <a:spcPts val="114"/>
              </a:spcBef>
            </a:pPr>
            <a:r>
              <a:rPr lang="en-IN" sz="5000" b="1" spc="430" dirty="0">
                <a:solidFill>
                  <a:schemeClr val="tx1"/>
                </a:solidFill>
                <a:latin typeface="Times New Roman" panose="02020603050405020304" pitchFamily="18" charset="0"/>
                <a:cs typeface="Times New Roman" panose="02020603050405020304" pitchFamily="18" charset="0"/>
              </a:rPr>
              <a:t>SYSTEM REQIREMENTS AND</a:t>
            </a:r>
            <a:r>
              <a:rPr lang="en-IN" sz="5000" b="1" spc="-370" dirty="0">
                <a:solidFill>
                  <a:schemeClr val="tx1"/>
                </a:solidFill>
                <a:latin typeface="Times New Roman" panose="02020603050405020304" pitchFamily="18" charset="0"/>
                <a:cs typeface="Times New Roman" panose="02020603050405020304" pitchFamily="18" charset="0"/>
              </a:rPr>
              <a:t> </a:t>
            </a:r>
            <a:r>
              <a:rPr lang="en-IN" sz="5000" b="1" spc="320" dirty="0">
                <a:solidFill>
                  <a:schemeClr val="tx1"/>
                </a:solidFill>
                <a:latin typeface="Times New Roman" panose="02020603050405020304" pitchFamily="18" charset="0"/>
                <a:cs typeface="Times New Roman" panose="02020603050405020304" pitchFamily="18" charset="0"/>
              </a:rPr>
              <a:t>SPECIFICATIONS</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9978DAF9-7405-DB51-FCAC-3ECAB20FAF42}"/>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9DBA5357-2BCC-9FC0-D086-E07B7F94CAF4}"/>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14</a:t>
            </a:r>
            <a:endParaRPr sz="1787" dirty="0">
              <a:latin typeface="Calibri"/>
              <a:cs typeface="Calibri"/>
            </a:endParaRPr>
          </a:p>
        </p:txBody>
      </p:sp>
      <p:sp>
        <p:nvSpPr>
          <p:cNvPr id="8" name="object 10">
            <a:extLst>
              <a:ext uri="{FF2B5EF4-FFF2-40B4-BE49-F238E27FC236}">
                <a16:creationId xmlns:a16="http://schemas.microsoft.com/office/drawing/2014/main" id="{A0C7D455-0CC4-0560-FC04-F53169876EB9}"/>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26C2285C-4ABA-B2E8-4D0E-A617B7492AFA}"/>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2C8164D2-C27A-08C7-786F-8E4FE1526844}"/>
              </a:ext>
            </a:extLst>
          </p:cNvPr>
          <p:cNvSpPr txBox="1"/>
          <p:nvPr/>
        </p:nvSpPr>
        <p:spPr>
          <a:xfrm>
            <a:off x="2355850" y="3688842"/>
            <a:ext cx="14249257" cy="6241837"/>
          </a:xfrm>
          <a:prstGeom prst="rect">
            <a:avLst/>
          </a:prstGeom>
          <a:noFill/>
        </p:spPr>
        <p:txBody>
          <a:bodyPr wrap="square">
            <a:spAutoFit/>
          </a:bodyPr>
          <a:lstStyle/>
          <a:p>
            <a:pPr>
              <a:lnSpc>
                <a:spcPct val="150000"/>
              </a:lnSpc>
              <a:buNone/>
            </a:pPr>
            <a:r>
              <a:rPr lang="en-IN" sz="3000" b="1" dirty="0">
                <a:latin typeface="Times New Roman" panose="02020603050405020304" pitchFamily="18" charset="0"/>
                <a:cs typeface="Times New Roman" panose="02020603050405020304" pitchFamily="18" charset="0"/>
              </a:rPr>
              <a:t>HARDWARE REQUIREMENTS:</a:t>
            </a:r>
          </a:p>
          <a:p>
            <a:pPr>
              <a:lnSpc>
                <a:spcPct val="150000"/>
              </a:lnSpc>
              <a:buNone/>
            </a:pPr>
            <a:r>
              <a:rPr lang="en-IN" sz="3000" b="1" dirty="0">
                <a:latin typeface="Times New Roman" panose="02020603050405020304" pitchFamily="18" charset="0"/>
                <a:cs typeface="Times New Roman" panose="02020603050405020304" pitchFamily="18" charset="0"/>
              </a:rPr>
              <a:t>RAM:</a:t>
            </a:r>
            <a:r>
              <a:rPr lang="en-IN" sz="3000" dirty="0">
                <a:latin typeface="Times New Roman" panose="02020603050405020304" pitchFamily="18" charset="0"/>
                <a:cs typeface="Times New Roman" panose="02020603050405020304" pitchFamily="18" charset="0"/>
              </a:rPr>
              <a:t> 8 GB (for efficient data processing and model training)</a:t>
            </a:r>
            <a:br>
              <a:rPr lang="en-IN" sz="3000"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Hard Disk / SSD:</a:t>
            </a:r>
            <a:r>
              <a:rPr lang="en-IN" sz="3000" dirty="0">
                <a:latin typeface="Times New Roman" panose="02020603050405020304" pitchFamily="18" charset="0"/>
                <a:cs typeface="Times New Roman" panose="02020603050405020304" pitchFamily="18" charset="0"/>
              </a:rPr>
              <a:t> 500 GB (to store datasets, models, and results)</a:t>
            </a:r>
            <a:br>
              <a:rPr lang="en-IN" sz="3000"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Processor:</a:t>
            </a:r>
            <a:r>
              <a:rPr lang="en-IN" sz="3000" dirty="0">
                <a:latin typeface="Times New Roman" panose="02020603050405020304" pitchFamily="18" charset="0"/>
                <a:cs typeface="Times New Roman" panose="02020603050405020304" pitchFamily="18" charset="0"/>
              </a:rPr>
              <a:t> Intel 3rd generation or higher (for smooth execution of ML algorithms)</a:t>
            </a:r>
          </a:p>
          <a:p>
            <a:pPr>
              <a:lnSpc>
                <a:spcPct val="150000"/>
              </a:lnSpc>
              <a:buNone/>
            </a:pPr>
            <a:endParaRPr lang="en-IN" sz="3000" dirty="0">
              <a:latin typeface="Times New Roman" panose="02020603050405020304" pitchFamily="18" charset="0"/>
              <a:cs typeface="Times New Roman" panose="02020603050405020304" pitchFamily="18" charset="0"/>
            </a:endParaRPr>
          </a:p>
          <a:p>
            <a:pPr>
              <a:lnSpc>
                <a:spcPct val="150000"/>
              </a:lnSpc>
              <a:buNone/>
            </a:pPr>
            <a:r>
              <a:rPr lang="en-IN" sz="3000" b="1" dirty="0">
                <a:latin typeface="Times New Roman" panose="02020603050405020304" pitchFamily="18" charset="0"/>
                <a:cs typeface="Times New Roman" panose="02020603050405020304" pitchFamily="18" charset="0"/>
              </a:rPr>
              <a:t>SOFTWARE REQUIREMENTS:</a:t>
            </a:r>
          </a:p>
          <a:p>
            <a:pPr>
              <a:lnSpc>
                <a:spcPct val="150000"/>
              </a:lnSpc>
              <a:buNone/>
            </a:pPr>
            <a:r>
              <a:rPr lang="en-IN" sz="3000" b="1" dirty="0">
                <a:latin typeface="Times New Roman" panose="02020603050405020304" pitchFamily="18" charset="0"/>
                <a:cs typeface="Times New Roman" panose="02020603050405020304" pitchFamily="18" charset="0"/>
              </a:rPr>
              <a:t>Operating System:</a:t>
            </a:r>
            <a:r>
              <a:rPr lang="en-IN" sz="3000" dirty="0">
                <a:latin typeface="Times New Roman" panose="02020603050405020304" pitchFamily="18" charset="0"/>
                <a:cs typeface="Times New Roman" panose="02020603050405020304" pitchFamily="18" charset="0"/>
              </a:rPr>
              <a:t> Windows 10 / Windows 11</a:t>
            </a:r>
            <a:br>
              <a:rPr lang="en-IN" sz="3000"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Programming Language:</a:t>
            </a:r>
            <a:r>
              <a:rPr lang="en-IN" sz="3000" dirty="0">
                <a:latin typeface="Times New Roman" panose="02020603050405020304" pitchFamily="18" charset="0"/>
                <a:cs typeface="Times New Roman" panose="02020603050405020304" pitchFamily="18" charset="0"/>
              </a:rPr>
              <a:t> Python 3.7 or higher</a:t>
            </a:r>
            <a:br>
              <a:rPr lang="en-IN" sz="3000"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IDLE:</a:t>
            </a:r>
            <a:r>
              <a:rPr lang="en-IN" sz="3000" dirty="0">
                <a:latin typeface="Times New Roman" panose="02020603050405020304" pitchFamily="18" charset="0"/>
                <a:cs typeface="Times New Roman" panose="02020603050405020304" pitchFamily="18" charset="0"/>
              </a:rPr>
              <a:t> </a:t>
            </a:r>
            <a:r>
              <a:rPr lang="en-IN" sz="3000" dirty="0" err="1">
                <a:latin typeface="Times New Roman" panose="02020603050405020304" pitchFamily="18" charset="0"/>
                <a:cs typeface="Times New Roman" panose="02020603050405020304" pitchFamily="18" charset="0"/>
              </a:rPr>
              <a:t>Jupyter</a:t>
            </a:r>
            <a:r>
              <a:rPr lang="en-IN" sz="3000" dirty="0">
                <a:latin typeface="Times New Roman" panose="02020603050405020304" pitchFamily="18" charset="0"/>
                <a:cs typeface="Times New Roman" panose="02020603050405020304" pitchFamily="18" charset="0"/>
              </a:rPr>
              <a:t> Notebook (for data analysis, model development, and visualization)</a:t>
            </a:r>
          </a:p>
        </p:txBody>
      </p:sp>
      <p:sp>
        <p:nvSpPr>
          <p:cNvPr id="5" name="object 9">
            <a:extLst>
              <a:ext uri="{FF2B5EF4-FFF2-40B4-BE49-F238E27FC236}">
                <a16:creationId xmlns:a16="http://schemas.microsoft.com/office/drawing/2014/main" id="{898C41D7-E2D4-6A91-5BF0-F9E975FBEBAB}"/>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9336" y="1361486"/>
            <a:ext cx="10964430" cy="769441"/>
          </a:xfrm>
        </p:spPr>
        <p:txBody>
          <a:bodyPr/>
          <a:lstStyle/>
          <a:p>
            <a:pPr algn="l"/>
            <a:r>
              <a:rPr lang="en-IN" sz="5000" b="1" dirty="0">
                <a:latin typeface="Times New Roman" panose="02020603050405020304" pitchFamily="18" charset="0"/>
                <a:cs typeface="Times New Roman" panose="02020603050405020304" pitchFamily="18" charset="0"/>
              </a:rPr>
              <a:t>SYSTEM ARCHITECTURE</a:t>
            </a:r>
          </a:p>
        </p:txBody>
      </p:sp>
      <p:sp>
        <p:nvSpPr>
          <p:cNvPr id="3" name="Text Placeholder 2"/>
          <p:cNvSpPr>
            <a:spLocks noGrp="1"/>
          </p:cNvSpPr>
          <p:nvPr>
            <p:ph type="body" idx="1"/>
          </p:nvPr>
        </p:nvSpPr>
        <p:spPr>
          <a:xfrm>
            <a:off x="1953225" y="2987675"/>
            <a:ext cx="18150875" cy="5078313"/>
          </a:xfrm>
        </p:spPr>
        <p:txBody>
          <a:bodyPr/>
          <a:lstStyle/>
          <a:p>
            <a:r>
              <a:rPr sz="3000" dirty="0">
                <a:latin typeface="Times New Roman" panose="02020603050405020304" pitchFamily="18" charset="0"/>
                <a:cs typeface="Times New Roman" panose="02020603050405020304" pitchFamily="18" charset="0"/>
              </a:rPr>
              <a:t>• </a:t>
            </a:r>
            <a:r>
              <a:rPr sz="3000" dirty="0">
                <a:solidFill>
                  <a:schemeClr val="tx1"/>
                </a:solidFill>
                <a:latin typeface="Times New Roman" panose="02020603050405020304" pitchFamily="18" charset="0"/>
                <a:cs typeface="Times New Roman" panose="02020603050405020304" pitchFamily="18" charset="0"/>
              </a:rPr>
              <a:t>Data Source (Real Estate Dataset)</a:t>
            </a:r>
            <a:endParaRPr lang="en-US" sz="3000" dirty="0">
              <a:solidFill>
                <a:schemeClr val="tx1"/>
              </a:solidFill>
              <a:latin typeface="Times New Roman" panose="02020603050405020304" pitchFamily="18" charset="0"/>
              <a:cs typeface="Times New Roman" panose="02020603050405020304" pitchFamily="18" charset="0"/>
            </a:endParaRPr>
          </a:p>
          <a:p>
            <a:endParaRPr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Data Preprocessing Module</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Feature Selection Module</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a:t>
            </a:r>
            <a:r>
              <a:rPr sz="3000" dirty="0" err="1">
                <a:solidFill>
                  <a:schemeClr val="tx1"/>
                </a:solidFill>
                <a:latin typeface="Times New Roman" panose="02020603050405020304" pitchFamily="18" charset="0"/>
                <a:cs typeface="Times New Roman" panose="02020603050405020304" pitchFamily="18" charset="0"/>
              </a:rPr>
              <a:t>XGBoost</a:t>
            </a:r>
            <a:r>
              <a:rPr sz="3000" dirty="0">
                <a:solidFill>
                  <a:schemeClr val="tx1"/>
                </a:solidFill>
                <a:latin typeface="Times New Roman" panose="02020603050405020304" pitchFamily="18" charset="0"/>
                <a:cs typeface="Times New Roman" panose="02020603050405020304" pitchFamily="18" charset="0"/>
              </a:rPr>
              <a:t> Model Training</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Model Evaluation</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Price Prediction Output</a:t>
            </a:r>
          </a:p>
        </p:txBody>
      </p:sp>
      <p:pic>
        <p:nvPicPr>
          <p:cNvPr id="5" name="Picture 4">
            <a:extLst>
              <a:ext uri="{FF2B5EF4-FFF2-40B4-BE49-F238E27FC236}">
                <a16:creationId xmlns:a16="http://schemas.microsoft.com/office/drawing/2014/main" id="{B75FD6F5-90BD-2B6B-13D7-2B4B5B581B94}"/>
              </a:ext>
            </a:extLst>
          </p:cNvPr>
          <p:cNvPicPr>
            <a:picLocks noChangeAspect="1"/>
          </p:cNvPicPr>
          <p:nvPr/>
        </p:nvPicPr>
        <p:blipFill>
          <a:blip r:embed="rId3"/>
          <a:srcRect l="15812" r="17603" b="12803"/>
          <a:stretch>
            <a:fillRect/>
          </a:stretch>
        </p:blipFill>
        <p:spPr>
          <a:xfrm>
            <a:off x="9406875" y="0"/>
            <a:ext cx="9403062" cy="11309350"/>
          </a:xfrm>
          <a:prstGeom prst="rect">
            <a:avLst/>
          </a:prstGeom>
        </p:spPr>
      </p:pic>
      <p:pic>
        <p:nvPicPr>
          <p:cNvPr id="4" name="object 6">
            <a:extLst>
              <a:ext uri="{FF2B5EF4-FFF2-40B4-BE49-F238E27FC236}">
                <a16:creationId xmlns:a16="http://schemas.microsoft.com/office/drawing/2014/main" id="{D6D16D38-702D-E635-9CB5-7413853DA119}"/>
              </a:ext>
            </a:extLst>
          </p:cNvPr>
          <p:cNvPicPr/>
          <p:nvPr/>
        </p:nvPicPr>
        <p:blipFill>
          <a:blip r:embed="rId4" cstate="print"/>
          <a:stretch>
            <a:fillRect/>
          </a:stretch>
        </p:blipFill>
        <p:spPr>
          <a:xfrm>
            <a:off x="0" y="1"/>
            <a:ext cx="1421881" cy="1409388"/>
          </a:xfrm>
          <a:prstGeom prst="rect">
            <a:avLst/>
          </a:prstGeom>
        </p:spPr>
      </p:pic>
      <p:pic>
        <p:nvPicPr>
          <p:cNvPr id="6" name="object 6">
            <a:extLst>
              <a:ext uri="{FF2B5EF4-FFF2-40B4-BE49-F238E27FC236}">
                <a16:creationId xmlns:a16="http://schemas.microsoft.com/office/drawing/2014/main" id="{9A18458D-1124-504C-190D-9A2CA8E296FF}"/>
              </a:ext>
            </a:extLst>
          </p:cNvPr>
          <p:cNvPicPr/>
          <p:nvPr/>
        </p:nvPicPr>
        <p:blipFill>
          <a:blip r:embed="rId5" cstate="print"/>
          <a:stretch>
            <a:fillRect/>
          </a:stretch>
        </p:blipFill>
        <p:spPr>
          <a:xfrm>
            <a:off x="17900507" y="0"/>
            <a:ext cx="1831561" cy="1746207"/>
          </a:xfrm>
          <a:prstGeom prst="rect">
            <a:avLst/>
          </a:prstGeom>
        </p:spPr>
      </p:pic>
      <p:sp>
        <p:nvSpPr>
          <p:cNvPr id="7" name="object 10">
            <a:extLst>
              <a:ext uri="{FF2B5EF4-FFF2-40B4-BE49-F238E27FC236}">
                <a16:creationId xmlns:a16="http://schemas.microsoft.com/office/drawing/2014/main" id="{4CCB4280-2263-8F2A-12BD-233377452133}"/>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8" name="object 3">
            <a:extLst>
              <a:ext uri="{FF2B5EF4-FFF2-40B4-BE49-F238E27FC236}">
                <a16:creationId xmlns:a16="http://schemas.microsoft.com/office/drawing/2014/main" id="{44DB2E24-57D5-B5EC-56E1-A6B0039C3E5E}"/>
              </a:ext>
            </a:extLst>
          </p:cNvPr>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15</a:t>
            </a:r>
            <a:endParaRPr sz="1787" dirty="0">
              <a:latin typeface="Calibri"/>
              <a:cs typeface="Calibri"/>
            </a:endParaRPr>
          </a:p>
        </p:txBody>
      </p:sp>
      <p:sp>
        <p:nvSpPr>
          <p:cNvPr id="9" name="object 9">
            <a:extLst>
              <a:ext uri="{FF2B5EF4-FFF2-40B4-BE49-F238E27FC236}">
                <a16:creationId xmlns:a16="http://schemas.microsoft.com/office/drawing/2014/main" id="{CCB18739-F4C0-734B-6180-B63D789BBEC2}"/>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5050" y="1374464"/>
            <a:ext cx="10964430" cy="769441"/>
          </a:xfrm>
        </p:spPr>
        <p:txBody>
          <a:bodyPr/>
          <a:lstStyle/>
          <a:p>
            <a:pPr algn="ctr"/>
            <a:r>
              <a:rPr lang="en-IN" sz="5000" b="1" dirty="0">
                <a:latin typeface="Times New Roman" panose="02020603050405020304" pitchFamily="18" charset="0"/>
                <a:cs typeface="Times New Roman" panose="02020603050405020304" pitchFamily="18" charset="0"/>
              </a:rPr>
              <a:t>PROPOSED ALGORITHM</a:t>
            </a:r>
          </a:p>
        </p:txBody>
      </p:sp>
      <p:sp>
        <p:nvSpPr>
          <p:cNvPr id="3" name="Text Placeholder 2"/>
          <p:cNvSpPr>
            <a:spLocks noGrp="1"/>
          </p:cNvSpPr>
          <p:nvPr>
            <p:ph type="body" idx="1"/>
          </p:nvPr>
        </p:nvSpPr>
        <p:spPr>
          <a:xfrm>
            <a:off x="1946875" y="3578261"/>
            <a:ext cx="18150875" cy="5457007"/>
          </a:xfrm>
        </p:spPr>
        <p:txBody>
          <a:bodyPr/>
          <a:lstStyle/>
          <a:p>
            <a:pPr marL="457200" indent="-457200" algn="just">
              <a:lnSpc>
                <a:spcPct val="150000"/>
              </a:lnSpc>
              <a:buFont typeface="Arial" panose="020B0604020202020204" pitchFamily="34" charset="0"/>
              <a:buChar char="•"/>
            </a:pPr>
            <a:r>
              <a:rPr sz="3000" dirty="0">
                <a:solidFill>
                  <a:schemeClr val="tx1"/>
                </a:solidFill>
                <a:latin typeface="Times New Roman" panose="02020603050405020304" pitchFamily="18" charset="0"/>
                <a:cs typeface="Times New Roman" panose="02020603050405020304" pitchFamily="18" charset="0"/>
              </a:rPr>
              <a:t>The proposed system uses </a:t>
            </a:r>
            <a:r>
              <a:rPr sz="3000" dirty="0" err="1">
                <a:solidFill>
                  <a:schemeClr val="tx1"/>
                </a:solidFill>
                <a:latin typeface="Times New Roman" panose="02020603050405020304" pitchFamily="18" charset="0"/>
                <a:cs typeface="Times New Roman" panose="02020603050405020304" pitchFamily="18" charset="0"/>
              </a:rPr>
              <a:t>XGBoost</a:t>
            </a:r>
            <a:r>
              <a:rPr sz="3000" dirty="0">
                <a:solidFill>
                  <a:schemeClr val="tx1"/>
                </a:solidFill>
                <a:latin typeface="Times New Roman" panose="02020603050405020304" pitchFamily="18" charset="0"/>
                <a:cs typeface="Times New Roman" panose="02020603050405020304" pitchFamily="18" charset="0"/>
              </a:rPr>
              <a:t> Regression to predict house prices.</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sz="3000" dirty="0">
                <a:solidFill>
                  <a:schemeClr val="tx1"/>
                </a:solidFill>
                <a:latin typeface="Times New Roman" panose="02020603050405020304" pitchFamily="18" charset="0"/>
                <a:cs typeface="Times New Roman" panose="02020603050405020304" pitchFamily="18" charset="0"/>
              </a:rPr>
              <a:t>It combines multiple decision trees using gradient boosting to improve accuracy.</a:t>
            </a:r>
            <a:endParaRPr lang="en-US" sz="3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sz="3000" dirty="0">
                <a:solidFill>
                  <a:schemeClr val="tx1"/>
                </a:solidFill>
                <a:latin typeface="Times New Roman" panose="02020603050405020304" pitchFamily="18" charset="0"/>
                <a:cs typeface="Times New Roman" panose="02020603050405020304" pitchFamily="18" charset="0"/>
              </a:rPr>
              <a:t>The model learns complex relationships between housing features and prices.</a:t>
            </a:r>
            <a:endParaRPr lang="en-US" sz="3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Our project predicts house prices using </a:t>
            </a:r>
            <a:r>
              <a:rPr lang="en-US" sz="3000" b="1" dirty="0" err="1">
                <a:solidFill>
                  <a:schemeClr val="tx1"/>
                </a:solidFill>
                <a:latin typeface="Times New Roman" panose="02020603050405020304" pitchFamily="18" charset="0"/>
                <a:cs typeface="Times New Roman" panose="02020603050405020304" pitchFamily="18" charset="0"/>
              </a:rPr>
              <a:t>XGBoost</a:t>
            </a:r>
            <a:r>
              <a:rPr lang="en-US" sz="3000" b="1" dirty="0">
                <a:solidFill>
                  <a:schemeClr val="tx1"/>
                </a:solidFill>
                <a:latin typeface="Times New Roman" panose="02020603050405020304" pitchFamily="18" charset="0"/>
                <a:cs typeface="Times New Roman" panose="02020603050405020304" pitchFamily="18" charset="0"/>
              </a:rPr>
              <a:t> Regression</a:t>
            </a:r>
            <a:endParaRPr lang="en-US" sz="3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3000" dirty="0" err="1">
                <a:solidFill>
                  <a:schemeClr val="tx1"/>
                </a:solidFill>
                <a:latin typeface="Times New Roman" panose="02020603050405020304" pitchFamily="18" charset="0"/>
                <a:cs typeface="Times New Roman" panose="02020603050405020304" pitchFamily="18" charset="0"/>
              </a:rPr>
              <a:t>XGBoost</a:t>
            </a:r>
            <a:r>
              <a:rPr lang="en-US" sz="3000" dirty="0">
                <a:solidFill>
                  <a:schemeClr val="tx1"/>
                </a:solidFill>
                <a:latin typeface="Times New Roman" panose="02020603050405020304" pitchFamily="18" charset="0"/>
                <a:cs typeface="Times New Roman" panose="02020603050405020304" pitchFamily="18" charset="0"/>
              </a:rPr>
              <a:t> is an advanced machine learning algorithm based on </a:t>
            </a:r>
            <a:r>
              <a:rPr lang="en-US" sz="3000" b="1" dirty="0">
                <a:solidFill>
                  <a:schemeClr val="tx1"/>
                </a:solidFill>
                <a:latin typeface="Times New Roman" panose="02020603050405020304" pitchFamily="18" charset="0"/>
                <a:cs typeface="Times New Roman" panose="02020603050405020304" pitchFamily="18" charset="0"/>
              </a:rPr>
              <a:t>gradient boosting.</a:t>
            </a:r>
            <a:endParaRPr lang="en-US" sz="3000" dirty="0">
              <a:solidFill>
                <a:schemeClr val="tx1"/>
              </a:solidFill>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It combines multiple weak decision trees to form a strong predictive model.</a:t>
            </a:r>
          </a:p>
          <a:p>
            <a:pPr marL="571500" indent="-571500" algn="just">
              <a:lnSpc>
                <a:spcPct val="150000"/>
              </a:lnSpc>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The algorithm learns complex patterns from real estate data to improve accuracy.</a:t>
            </a:r>
          </a:p>
          <a:p>
            <a:pPr marL="457200" indent="-457200" algn="just">
              <a:lnSpc>
                <a:spcPct val="150000"/>
              </a:lnSpc>
              <a:buFont typeface="Arial" panose="020B0604020202020204" pitchFamily="34" charset="0"/>
              <a:buChar char="•"/>
            </a:pPr>
            <a:endParaRPr sz="3000" dirty="0">
              <a:solidFill>
                <a:schemeClr val="tx1"/>
              </a:solidFill>
              <a:latin typeface="Times New Roman" panose="02020603050405020304" pitchFamily="18" charset="0"/>
              <a:cs typeface="Times New Roman" panose="02020603050405020304" pitchFamily="18" charset="0"/>
            </a:endParaRPr>
          </a:p>
        </p:txBody>
      </p:sp>
      <p:pic>
        <p:nvPicPr>
          <p:cNvPr id="4" name="object 6">
            <a:extLst>
              <a:ext uri="{FF2B5EF4-FFF2-40B4-BE49-F238E27FC236}">
                <a16:creationId xmlns:a16="http://schemas.microsoft.com/office/drawing/2014/main" id="{E5080350-C301-4B74-7259-84AFB0D3A437}"/>
              </a:ext>
            </a:extLst>
          </p:cNvPr>
          <p:cNvPicPr/>
          <p:nvPr/>
        </p:nvPicPr>
        <p:blipFill>
          <a:blip r:embed="rId2" cstate="print"/>
          <a:stretch>
            <a:fillRect/>
          </a:stretch>
        </p:blipFill>
        <p:spPr>
          <a:xfrm>
            <a:off x="0" y="1"/>
            <a:ext cx="1421881" cy="1409388"/>
          </a:xfrm>
          <a:prstGeom prst="rect">
            <a:avLst/>
          </a:prstGeom>
        </p:spPr>
      </p:pic>
      <p:pic>
        <p:nvPicPr>
          <p:cNvPr id="8" name="object 6">
            <a:extLst>
              <a:ext uri="{FF2B5EF4-FFF2-40B4-BE49-F238E27FC236}">
                <a16:creationId xmlns:a16="http://schemas.microsoft.com/office/drawing/2014/main" id="{9CDEEA44-1FF4-02E8-5C9E-69B71E0884EF}"/>
              </a:ext>
            </a:extLst>
          </p:cNvPr>
          <p:cNvPicPr/>
          <p:nvPr/>
        </p:nvPicPr>
        <p:blipFill>
          <a:blip r:embed="rId3" cstate="print"/>
          <a:stretch>
            <a:fillRect/>
          </a:stretch>
        </p:blipFill>
        <p:spPr>
          <a:xfrm>
            <a:off x="17900507" y="15875"/>
            <a:ext cx="1831561" cy="1746207"/>
          </a:xfrm>
          <a:prstGeom prst="rect">
            <a:avLst/>
          </a:prstGeom>
        </p:spPr>
      </p:pic>
      <p:sp>
        <p:nvSpPr>
          <p:cNvPr id="9" name="object 10">
            <a:extLst>
              <a:ext uri="{FF2B5EF4-FFF2-40B4-BE49-F238E27FC236}">
                <a16:creationId xmlns:a16="http://schemas.microsoft.com/office/drawing/2014/main" id="{5FE3E9F5-2F41-33E9-4B42-891490E18831}"/>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10" name="object 3">
            <a:extLst>
              <a:ext uri="{FF2B5EF4-FFF2-40B4-BE49-F238E27FC236}">
                <a16:creationId xmlns:a16="http://schemas.microsoft.com/office/drawing/2014/main" id="{EE1D34D9-9559-79D5-60DD-596EC5CE6829}"/>
              </a:ext>
            </a:extLst>
          </p:cNvPr>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16</a:t>
            </a:r>
            <a:endParaRPr sz="1787" dirty="0">
              <a:latin typeface="Calibri"/>
              <a:cs typeface="Calibri"/>
            </a:endParaRPr>
          </a:p>
        </p:txBody>
      </p:sp>
      <p:sp>
        <p:nvSpPr>
          <p:cNvPr id="11" name="object 9">
            <a:extLst>
              <a:ext uri="{FF2B5EF4-FFF2-40B4-BE49-F238E27FC236}">
                <a16:creationId xmlns:a16="http://schemas.microsoft.com/office/drawing/2014/main" id="{D4019478-3C81-569C-3276-26539D5B0BB6}"/>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6875" y="2393044"/>
            <a:ext cx="13327444" cy="1231106"/>
          </a:xfrm>
        </p:spPr>
        <p:txBody>
          <a:bodyPr/>
          <a:lstStyle/>
          <a:p>
            <a:br>
              <a:rPr lang="en-US" sz="4000" b="1" dirty="0">
                <a:latin typeface="Times New Roman" panose="02020603050405020304" pitchFamily="18" charset="0"/>
                <a:cs typeface="Times New Roman" panose="02020603050405020304" pitchFamily="18" charset="0"/>
              </a:rPr>
            </a:br>
            <a:r>
              <a:rPr sz="4000" b="1" dirty="0">
                <a:latin typeface="Times New Roman" panose="02020603050405020304" pitchFamily="18" charset="0"/>
                <a:cs typeface="Times New Roman" panose="02020603050405020304" pitchFamily="18" charset="0"/>
              </a:rPr>
              <a:t>Step 1: Data Collection</a:t>
            </a:r>
          </a:p>
        </p:txBody>
      </p:sp>
      <p:sp>
        <p:nvSpPr>
          <p:cNvPr id="3" name="Text Placeholder 2"/>
          <p:cNvSpPr>
            <a:spLocks noGrp="1"/>
          </p:cNvSpPr>
          <p:nvPr>
            <p:ph type="body" idx="1"/>
          </p:nvPr>
        </p:nvSpPr>
        <p:spPr>
          <a:xfrm>
            <a:off x="1953225" y="4794207"/>
            <a:ext cx="18150875" cy="2308324"/>
          </a:xfrm>
        </p:spPr>
        <p:txBody>
          <a:bodyPr/>
          <a:lstStyle/>
          <a:p>
            <a:r>
              <a:rPr sz="3000" dirty="0">
                <a:solidFill>
                  <a:schemeClr val="tx1"/>
                </a:solidFill>
                <a:latin typeface="Times New Roman" panose="02020603050405020304" pitchFamily="18" charset="0"/>
                <a:cs typeface="Times New Roman" panose="02020603050405020304" pitchFamily="18" charset="0"/>
              </a:rPr>
              <a:t>• Collect historical real estate data</a:t>
            </a:r>
            <a:endParaRPr lang="en-US" sz="3000" dirty="0">
              <a:solidFill>
                <a:schemeClr val="tx1"/>
              </a:solidFill>
              <a:latin typeface="Times New Roman" panose="02020603050405020304" pitchFamily="18" charset="0"/>
              <a:cs typeface="Times New Roman" panose="02020603050405020304" pitchFamily="18" charset="0"/>
            </a:endParaRPr>
          </a:p>
          <a:p>
            <a:endParaRPr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Include features like area, location, BHK, price</a:t>
            </a:r>
            <a:endParaRPr lang="en-US" sz="3000" dirty="0">
              <a:solidFill>
                <a:schemeClr val="tx1"/>
              </a:solidFill>
              <a:latin typeface="Times New Roman" panose="02020603050405020304" pitchFamily="18" charset="0"/>
              <a:cs typeface="Times New Roman" panose="02020603050405020304" pitchFamily="18" charset="0"/>
            </a:endParaRPr>
          </a:p>
          <a:p>
            <a:endParaRPr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Store data in structured format</a:t>
            </a:r>
          </a:p>
        </p:txBody>
      </p:sp>
      <p:sp>
        <p:nvSpPr>
          <p:cNvPr id="5" name="TextBox 4">
            <a:extLst>
              <a:ext uri="{FF2B5EF4-FFF2-40B4-BE49-F238E27FC236}">
                <a16:creationId xmlns:a16="http://schemas.microsoft.com/office/drawing/2014/main" id="{FC60CB8E-6A39-E0D7-060A-E9F285618CB0}"/>
              </a:ext>
            </a:extLst>
          </p:cNvPr>
          <p:cNvSpPr txBox="1"/>
          <p:nvPr/>
        </p:nvSpPr>
        <p:spPr>
          <a:xfrm>
            <a:off x="11576050" y="2916264"/>
            <a:ext cx="100584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Step 2: Data Preprocessing</a:t>
            </a:r>
            <a:endParaRPr lang="en-IN" sz="4000" b="1" dirty="0"/>
          </a:p>
        </p:txBody>
      </p:sp>
      <p:sp>
        <p:nvSpPr>
          <p:cNvPr id="7" name="TextBox 6">
            <a:extLst>
              <a:ext uri="{FF2B5EF4-FFF2-40B4-BE49-F238E27FC236}">
                <a16:creationId xmlns:a16="http://schemas.microsoft.com/office/drawing/2014/main" id="{DE69E5BE-ED0E-FC07-B0FE-BAA2EC50D10C}"/>
              </a:ext>
            </a:extLst>
          </p:cNvPr>
          <p:cNvSpPr txBox="1"/>
          <p:nvPr/>
        </p:nvSpPr>
        <p:spPr>
          <a:xfrm>
            <a:off x="11576050" y="4562498"/>
            <a:ext cx="10058400" cy="3323987"/>
          </a:xfrm>
          <a:prstGeom prst="rect">
            <a:avLst/>
          </a:prstGeom>
          <a:noFill/>
        </p:spPr>
        <p:txBody>
          <a:bodyPr wrap="square">
            <a:spAutoFit/>
          </a:bodyPr>
          <a:lstStyle/>
          <a:p>
            <a:r>
              <a:rPr lang="en-US" sz="3000" dirty="0">
                <a:solidFill>
                  <a:schemeClr val="tx1"/>
                </a:solidFill>
                <a:latin typeface="Times New Roman" panose="02020603050405020304" pitchFamily="18" charset="0"/>
                <a:cs typeface="Times New Roman" panose="02020603050405020304" pitchFamily="18" charset="0"/>
              </a:rPr>
              <a:t>• Handle missing values</a:t>
            </a:r>
          </a:p>
          <a:p>
            <a:endParaRPr lang="en-US" sz="3000" dirty="0">
              <a:solidFill>
                <a:schemeClr val="tx1"/>
              </a:solidFill>
              <a:latin typeface="Times New Roman" panose="02020603050405020304" pitchFamily="18" charset="0"/>
              <a:cs typeface="Times New Roman" panose="02020603050405020304" pitchFamily="18" charset="0"/>
            </a:endParaRPr>
          </a:p>
          <a:p>
            <a:r>
              <a:rPr lang="en-US" sz="3000" dirty="0">
                <a:solidFill>
                  <a:schemeClr val="tx1"/>
                </a:solidFill>
                <a:latin typeface="Times New Roman" panose="02020603050405020304" pitchFamily="18" charset="0"/>
                <a:cs typeface="Times New Roman" panose="02020603050405020304" pitchFamily="18" charset="0"/>
              </a:rPr>
              <a:t>• Remove duplicates and outliers</a:t>
            </a:r>
          </a:p>
          <a:p>
            <a:endParaRPr lang="en-US" sz="3000" dirty="0">
              <a:solidFill>
                <a:schemeClr val="tx1"/>
              </a:solidFill>
              <a:latin typeface="Times New Roman" panose="02020603050405020304" pitchFamily="18" charset="0"/>
              <a:cs typeface="Times New Roman" panose="02020603050405020304" pitchFamily="18" charset="0"/>
            </a:endParaRPr>
          </a:p>
          <a:p>
            <a:r>
              <a:rPr lang="en-US" sz="3000" dirty="0">
                <a:solidFill>
                  <a:schemeClr val="tx1"/>
                </a:solidFill>
                <a:latin typeface="Times New Roman" panose="02020603050405020304" pitchFamily="18" charset="0"/>
                <a:cs typeface="Times New Roman" panose="02020603050405020304" pitchFamily="18" charset="0"/>
              </a:rPr>
              <a:t>• Encode categorical variables</a:t>
            </a:r>
          </a:p>
          <a:p>
            <a:endParaRPr lang="en-US" sz="3000" dirty="0">
              <a:solidFill>
                <a:schemeClr val="tx1"/>
              </a:solidFill>
              <a:latin typeface="Times New Roman" panose="02020603050405020304" pitchFamily="18" charset="0"/>
              <a:cs typeface="Times New Roman" panose="02020603050405020304" pitchFamily="18" charset="0"/>
            </a:endParaRPr>
          </a:p>
          <a:p>
            <a:r>
              <a:rPr lang="en-US" sz="3000" dirty="0">
                <a:solidFill>
                  <a:schemeClr val="tx1"/>
                </a:solidFill>
                <a:latin typeface="Times New Roman" panose="02020603050405020304" pitchFamily="18" charset="0"/>
                <a:cs typeface="Times New Roman" panose="02020603050405020304" pitchFamily="18" charset="0"/>
              </a:rPr>
              <a:t>• Normalize numerical features</a:t>
            </a:r>
          </a:p>
        </p:txBody>
      </p:sp>
      <p:sp>
        <p:nvSpPr>
          <p:cNvPr id="8" name="Title 1">
            <a:extLst>
              <a:ext uri="{FF2B5EF4-FFF2-40B4-BE49-F238E27FC236}">
                <a16:creationId xmlns:a16="http://schemas.microsoft.com/office/drawing/2014/main" id="{FF4FC856-B345-5261-D53F-6BC92D0E362E}"/>
              </a:ext>
            </a:extLst>
          </p:cNvPr>
          <p:cNvSpPr txBox="1">
            <a:spLocks/>
          </p:cNvSpPr>
          <p:nvPr/>
        </p:nvSpPr>
        <p:spPr>
          <a:xfrm>
            <a:off x="1972275" y="486059"/>
            <a:ext cx="13327444" cy="923330"/>
          </a:xfrm>
          <a:prstGeom prst="rect">
            <a:avLst/>
          </a:prstGeom>
        </p:spPr>
        <p:txBody>
          <a:bodyPr wrap="square" lIns="0" tIns="0" rIns="0" bIns="0">
            <a:spAutoFit/>
          </a:bodyPr>
          <a:lstStyle>
            <a:lvl1pPr>
              <a:defRPr sz="6050" b="0" i="0">
                <a:solidFill>
                  <a:srgbClr val="232323"/>
                </a:solidFill>
                <a:latin typeface="Calibri"/>
                <a:ea typeface="+mj-ea"/>
                <a:cs typeface="Calibri"/>
              </a:defRPr>
            </a:lvl1pPr>
          </a:lstStyle>
          <a:p>
            <a:pPr algn="ctr"/>
            <a:r>
              <a:rPr lang="en-US" sz="6000" b="1" dirty="0">
                <a:latin typeface="Times New Roman" panose="02020603050405020304" pitchFamily="18" charset="0"/>
                <a:cs typeface="Times New Roman" panose="02020603050405020304" pitchFamily="18" charset="0"/>
              </a:rPr>
              <a:t>ALGORITHM</a:t>
            </a:r>
          </a:p>
        </p:txBody>
      </p:sp>
      <p:pic>
        <p:nvPicPr>
          <p:cNvPr id="4" name="object 6">
            <a:extLst>
              <a:ext uri="{FF2B5EF4-FFF2-40B4-BE49-F238E27FC236}">
                <a16:creationId xmlns:a16="http://schemas.microsoft.com/office/drawing/2014/main" id="{ABBB66A0-928A-F4B7-5BC6-69DF7D1D7845}"/>
              </a:ext>
            </a:extLst>
          </p:cNvPr>
          <p:cNvPicPr/>
          <p:nvPr/>
        </p:nvPicPr>
        <p:blipFill>
          <a:blip r:embed="rId2" cstate="print"/>
          <a:stretch>
            <a:fillRect/>
          </a:stretch>
        </p:blipFill>
        <p:spPr>
          <a:xfrm>
            <a:off x="0" y="1"/>
            <a:ext cx="1421881" cy="1409388"/>
          </a:xfrm>
          <a:prstGeom prst="rect">
            <a:avLst/>
          </a:prstGeom>
        </p:spPr>
      </p:pic>
      <p:pic>
        <p:nvPicPr>
          <p:cNvPr id="6" name="object 6">
            <a:extLst>
              <a:ext uri="{FF2B5EF4-FFF2-40B4-BE49-F238E27FC236}">
                <a16:creationId xmlns:a16="http://schemas.microsoft.com/office/drawing/2014/main" id="{750D7CA7-456B-5FFF-F179-09D272070E00}"/>
              </a:ext>
            </a:extLst>
          </p:cNvPr>
          <p:cNvPicPr/>
          <p:nvPr/>
        </p:nvPicPr>
        <p:blipFill>
          <a:blip r:embed="rId3" cstate="print"/>
          <a:stretch>
            <a:fillRect/>
          </a:stretch>
        </p:blipFill>
        <p:spPr>
          <a:xfrm>
            <a:off x="17900507" y="0"/>
            <a:ext cx="1831561" cy="1746207"/>
          </a:xfrm>
          <a:prstGeom prst="rect">
            <a:avLst/>
          </a:prstGeom>
        </p:spPr>
      </p:pic>
      <p:sp>
        <p:nvSpPr>
          <p:cNvPr id="9" name="object 3">
            <a:extLst>
              <a:ext uri="{FF2B5EF4-FFF2-40B4-BE49-F238E27FC236}">
                <a16:creationId xmlns:a16="http://schemas.microsoft.com/office/drawing/2014/main" id="{C59EC524-B055-4811-7A33-84E76CFF53C8}"/>
              </a:ext>
            </a:extLst>
          </p:cNvPr>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17</a:t>
            </a:r>
            <a:endParaRPr sz="1787" dirty="0">
              <a:latin typeface="Calibri"/>
              <a:cs typeface="Calibri"/>
            </a:endParaRPr>
          </a:p>
        </p:txBody>
      </p:sp>
      <p:sp>
        <p:nvSpPr>
          <p:cNvPr id="10" name="object 9">
            <a:extLst>
              <a:ext uri="{FF2B5EF4-FFF2-40B4-BE49-F238E27FC236}">
                <a16:creationId xmlns:a16="http://schemas.microsoft.com/office/drawing/2014/main" id="{755716E1-89D9-5DF5-32E6-DAC9C0385762}"/>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1" name="object 10">
            <a:extLst>
              <a:ext uri="{FF2B5EF4-FFF2-40B4-BE49-F238E27FC236}">
                <a16:creationId xmlns:a16="http://schemas.microsoft.com/office/drawing/2014/main" id="{C5C25A23-2FE7-8203-890A-3B9CFE21E243}"/>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893" y="3241169"/>
            <a:ext cx="7148757" cy="737106"/>
          </a:xfrm>
        </p:spPr>
        <p:txBody>
          <a:bodyPr/>
          <a:lstStyle/>
          <a:p>
            <a:r>
              <a:rPr sz="4000" b="1" dirty="0">
                <a:latin typeface="Times New Roman" panose="02020603050405020304" pitchFamily="18" charset="0"/>
                <a:cs typeface="Times New Roman" panose="02020603050405020304" pitchFamily="18" charset="0"/>
              </a:rPr>
              <a:t>Step 3: Model Training</a:t>
            </a:r>
          </a:p>
        </p:txBody>
      </p:sp>
      <p:sp>
        <p:nvSpPr>
          <p:cNvPr id="3" name="Text Placeholder 2"/>
          <p:cNvSpPr>
            <a:spLocks noGrp="1"/>
          </p:cNvSpPr>
          <p:nvPr>
            <p:ph type="body" idx="1"/>
          </p:nvPr>
        </p:nvSpPr>
        <p:spPr>
          <a:xfrm>
            <a:off x="2369893" y="4513315"/>
            <a:ext cx="6931664" cy="3231654"/>
          </a:xfrm>
        </p:spPr>
        <p:txBody>
          <a:bodyPr/>
          <a:lstStyle/>
          <a:p>
            <a:r>
              <a:rPr sz="3000" dirty="0">
                <a:solidFill>
                  <a:schemeClr val="tx1"/>
                </a:solidFill>
                <a:latin typeface="Times New Roman" panose="02020603050405020304" pitchFamily="18" charset="0"/>
                <a:cs typeface="Times New Roman" panose="02020603050405020304" pitchFamily="18" charset="0"/>
              </a:rPr>
              <a:t>• Split data into training and testing sets</a:t>
            </a:r>
            <a:endParaRPr lang="en-US" sz="3000" dirty="0">
              <a:solidFill>
                <a:schemeClr val="tx1"/>
              </a:solidFill>
              <a:latin typeface="Times New Roman" panose="02020603050405020304" pitchFamily="18" charset="0"/>
              <a:cs typeface="Times New Roman" panose="02020603050405020304" pitchFamily="18" charset="0"/>
            </a:endParaRPr>
          </a:p>
          <a:p>
            <a:endParaRPr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Train </a:t>
            </a:r>
            <a:r>
              <a:rPr sz="3000" dirty="0" err="1">
                <a:solidFill>
                  <a:schemeClr val="tx1"/>
                </a:solidFill>
                <a:latin typeface="Times New Roman" panose="02020603050405020304" pitchFamily="18" charset="0"/>
                <a:cs typeface="Times New Roman" panose="02020603050405020304" pitchFamily="18" charset="0"/>
              </a:rPr>
              <a:t>XGBoost</a:t>
            </a:r>
            <a:r>
              <a:rPr sz="3000" dirty="0">
                <a:solidFill>
                  <a:schemeClr val="tx1"/>
                </a:solidFill>
                <a:latin typeface="Times New Roman" panose="02020603050405020304" pitchFamily="18" charset="0"/>
                <a:cs typeface="Times New Roman" panose="02020603050405020304" pitchFamily="18" charset="0"/>
              </a:rPr>
              <a:t> regression model</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Optimize hyperparameters</a:t>
            </a:r>
          </a:p>
          <a:p>
            <a:endParaRPr lang="en-US" sz="3000" dirty="0">
              <a:solidFill>
                <a:schemeClr val="tx1"/>
              </a:solidFill>
              <a:latin typeface="Times New Roman" panose="02020603050405020304" pitchFamily="18" charset="0"/>
              <a:cs typeface="Times New Roman" panose="02020603050405020304" pitchFamily="18" charset="0"/>
            </a:endParaRPr>
          </a:p>
          <a:p>
            <a:r>
              <a:rPr sz="3000" dirty="0">
                <a:solidFill>
                  <a:schemeClr val="tx1"/>
                </a:solidFill>
                <a:latin typeface="Times New Roman" panose="02020603050405020304" pitchFamily="18" charset="0"/>
                <a:cs typeface="Times New Roman" panose="02020603050405020304" pitchFamily="18" charset="0"/>
              </a:rPr>
              <a:t>• Minimize prediction error</a:t>
            </a:r>
          </a:p>
        </p:txBody>
      </p:sp>
      <p:sp>
        <p:nvSpPr>
          <p:cNvPr id="4" name="Title 1"/>
          <p:cNvSpPr txBox="1">
            <a:spLocks/>
          </p:cNvSpPr>
          <p:nvPr/>
        </p:nvSpPr>
        <p:spPr>
          <a:xfrm>
            <a:off x="11631856" y="3115619"/>
            <a:ext cx="6096001" cy="615554"/>
          </a:xfrm>
          <a:prstGeom prst="rect">
            <a:avLst/>
          </a:prstGeom>
        </p:spPr>
        <p:txBody>
          <a:bodyPr wrap="square" lIns="0" tIns="0" rIns="0" bIns="0">
            <a:spAutoFit/>
          </a:bodyPr>
          <a:lstStyle>
            <a:lvl1pPr>
              <a:defRPr sz="6050" b="0" i="0">
                <a:solidFill>
                  <a:srgbClr val="232323"/>
                </a:solidFill>
                <a:latin typeface="Calibri"/>
                <a:ea typeface="+mj-ea"/>
                <a:cs typeface="Calibri"/>
              </a:defRPr>
            </a:lvl1pPr>
          </a:lstStyle>
          <a:p>
            <a:r>
              <a:rPr lang="en-IN" sz="4000" b="1" dirty="0">
                <a:latin typeface="Times New Roman" panose="02020603050405020304" pitchFamily="18" charset="0"/>
                <a:cs typeface="Times New Roman" panose="02020603050405020304" pitchFamily="18" charset="0"/>
              </a:rPr>
              <a:t>Step 4: Prediction</a:t>
            </a:r>
          </a:p>
        </p:txBody>
      </p:sp>
      <p:sp>
        <p:nvSpPr>
          <p:cNvPr id="6" name="TextBox 5">
            <a:extLst>
              <a:ext uri="{FF2B5EF4-FFF2-40B4-BE49-F238E27FC236}">
                <a16:creationId xmlns:a16="http://schemas.microsoft.com/office/drawing/2014/main" id="{ABC0ABA6-DC23-70BF-EE74-A0377BE17E26}"/>
              </a:ext>
            </a:extLst>
          </p:cNvPr>
          <p:cNvSpPr txBox="1"/>
          <p:nvPr/>
        </p:nvSpPr>
        <p:spPr>
          <a:xfrm>
            <a:off x="11390405" y="4542264"/>
            <a:ext cx="10058400" cy="2400657"/>
          </a:xfrm>
          <a:prstGeom prst="rect">
            <a:avLst/>
          </a:prstGeom>
          <a:noFill/>
        </p:spPr>
        <p:txBody>
          <a:bodyPr wrap="square">
            <a:spAutoFit/>
          </a:bodyPr>
          <a:lstStyle/>
          <a:p>
            <a:r>
              <a:rPr lang="en-US" sz="3000" dirty="0">
                <a:solidFill>
                  <a:schemeClr val="tx1"/>
                </a:solidFill>
                <a:latin typeface="Times New Roman" panose="02020603050405020304" pitchFamily="18" charset="0"/>
                <a:cs typeface="Times New Roman" panose="02020603050405020304" pitchFamily="18" charset="0"/>
              </a:rPr>
              <a:t>• Accept user input (area, location, BHK)</a:t>
            </a:r>
          </a:p>
          <a:p>
            <a:endParaRPr lang="en-US" sz="3000" dirty="0">
              <a:solidFill>
                <a:schemeClr val="tx1"/>
              </a:solidFill>
              <a:latin typeface="Times New Roman" panose="02020603050405020304" pitchFamily="18" charset="0"/>
              <a:cs typeface="Times New Roman" panose="02020603050405020304" pitchFamily="18" charset="0"/>
            </a:endParaRPr>
          </a:p>
          <a:p>
            <a:r>
              <a:rPr lang="en-US" sz="3000" dirty="0">
                <a:solidFill>
                  <a:schemeClr val="tx1"/>
                </a:solidFill>
                <a:latin typeface="Times New Roman" panose="02020603050405020304" pitchFamily="18" charset="0"/>
                <a:cs typeface="Times New Roman" panose="02020603050405020304" pitchFamily="18" charset="0"/>
              </a:rPr>
              <a:t>• Process input through trained model</a:t>
            </a:r>
          </a:p>
          <a:p>
            <a:endParaRPr lang="en-US" sz="3000" dirty="0">
              <a:solidFill>
                <a:schemeClr val="tx1"/>
              </a:solidFill>
              <a:latin typeface="Times New Roman" panose="02020603050405020304" pitchFamily="18" charset="0"/>
              <a:cs typeface="Times New Roman" panose="02020603050405020304" pitchFamily="18" charset="0"/>
            </a:endParaRPr>
          </a:p>
          <a:p>
            <a:r>
              <a:rPr lang="en-US" sz="3000" dirty="0">
                <a:solidFill>
                  <a:schemeClr val="tx1"/>
                </a:solidFill>
                <a:latin typeface="Times New Roman" panose="02020603050405020304" pitchFamily="18" charset="0"/>
                <a:cs typeface="Times New Roman" panose="02020603050405020304" pitchFamily="18" charset="0"/>
              </a:rPr>
              <a:t>• Generate predicted house price</a:t>
            </a:r>
          </a:p>
        </p:txBody>
      </p:sp>
      <p:pic>
        <p:nvPicPr>
          <p:cNvPr id="5" name="object 6">
            <a:extLst>
              <a:ext uri="{FF2B5EF4-FFF2-40B4-BE49-F238E27FC236}">
                <a16:creationId xmlns:a16="http://schemas.microsoft.com/office/drawing/2014/main" id="{4F865FB8-75B0-B2DC-06F5-4021E5F8D523}"/>
              </a:ext>
            </a:extLst>
          </p:cNvPr>
          <p:cNvPicPr/>
          <p:nvPr/>
        </p:nvPicPr>
        <p:blipFill>
          <a:blip r:embed="rId2" cstate="print"/>
          <a:stretch>
            <a:fillRect/>
          </a:stretch>
        </p:blipFill>
        <p:spPr>
          <a:xfrm>
            <a:off x="0" y="1"/>
            <a:ext cx="1421881" cy="1409388"/>
          </a:xfrm>
          <a:prstGeom prst="rect">
            <a:avLst/>
          </a:prstGeom>
        </p:spPr>
      </p:pic>
      <p:pic>
        <p:nvPicPr>
          <p:cNvPr id="7" name="object 6">
            <a:extLst>
              <a:ext uri="{FF2B5EF4-FFF2-40B4-BE49-F238E27FC236}">
                <a16:creationId xmlns:a16="http://schemas.microsoft.com/office/drawing/2014/main" id="{6A3523D0-D9BA-BF96-78EE-09632D08F889}"/>
              </a:ext>
            </a:extLst>
          </p:cNvPr>
          <p:cNvPicPr/>
          <p:nvPr/>
        </p:nvPicPr>
        <p:blipFill>
          <a:blip r:embed="rId3" cstate="print"/>
          <a:stretch>
            <a:fillRect/>
          </a:stretch>
        </p:blipFill>
        <p:spPr>
          <a:xfrm>
            <a:off x="17900507" y="0"/>
            <a:ext cx="1831561" cy="1746207"/>
          </a:xfrm>
          <a:prstGeom prst="rect">
            <a:avLst/>
          </a:prstGeom>
        </p:spPr>
      </p:pic>
      <p:sp>
        <p:nvSpPr>
          <p:cNvPr id="10" name="object 10">
            <a:extLst>
              <a:ext uri="{FF2B5EF4-FFF2-40B4-BE49-F238E27FC236}">
                <a16:creationId xmlns:a16="http://schemas.microsoft.com/office/drawing/2014/main" id="{52B51A0B-771F-82A3-590E-C33C71EC1414}"/>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11" name="object 3">
            <a:extLst>
              <a:ext uri="{FF2B5EF4-FFF2-40B4-BE49-F238E27FC236}">
                <a16:creationId xmlns:a16="http://schemas.microsoft.com/office/drawing/2014/main" id="{004D4CE6-07DF-467C-FAA3-D80BC420C0D4}"/>
              </a:ext>
            </a:extLst>
          </p:cNvPr>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18</a:t>
            </a:r>
            <a:endParaRPr sz="1787" dirty="0">
              <a:latin typeface="Calibri"/>
              <a:cs typeface="Calibri"/>
            </a:endParaRPr>
          </a:p>
        </p:txBody>
      </p:sp>
      <p:sp>
        <p:nvSpPr>
          <p:cNvPr id="12" name="object 9">
            <a:extLst>
              <a:ext uri="{FF2B5EF4-FFF2-40B4-BE49-F238E27FC236}">
                <a16:creationId xmlns:a16="http://schemas.microsoft.com/office/drawing/2014/main" id="{73585531-7A03-DEF6-F032-F73EE7590CC0}"/>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784850" y="3825875"/>
            <a:ext cx="9695181" cy="2799483"/>
          </a:xfrm>
          <a:prstGeom prst="rect">
            <a:avLst/>
          </a:prstGeom>
        </p:spPr>
        <p:txBody>
          <a:bodyPr vert="horz" wrap="square" lIns="0" tIns="486409" rIns="0" bIns="0" rtlCol="0">
            <a:spAutoFit/>
          </a:bodyPr>
          <a:lstStyle/>
          <a:p>
            <a:pPr algn="just">
              <a:lnSpc>
                <a:spcPct val="100000"/>
              </a:lnSpc>
              <a:spcBef>
                <a:spcPts val="3829"/>
              </a:spcBef>
              <a:tabLst>
                <a:tab pos="2166620" algn="l"/>
              </a:tabLst>
            </a:pPr>
            <a:r>
              <a:rPr lang="en-US" sz="15000" b="1" dirty="0">
                <a:solidFill>
                  <a:schemeClr val="tx1"/>
                </a:solidFill>
                <a:latin typeface="Times New Roman" panose="02020603050405020304" pitchFamily="18" charset="0"/>
                <a:cs typeface="Times New Roman" panose="02020603050405020304" pitchFamily="18" charset="0"/>
              </a:rPr>
              <a:t>Thank you</a:t>
            </a:r>
            <a:endParaRPr sz="1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7DCC801D-08C3-E964-426B-E73257DEAFE3}"/>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29979152-AAAE-2734-E28C-28901C42AD31}"/>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19</a:t>
            </a:r>
            <a:endParaRPr sz="1787" dirty="0">
              <a:latin typeface="Calibri"/>
              <a:cs typeface="Calibri"/>
            </a:endParaRPr>
          </a:p>
        </p:txBody>
      </p:sp>
      <p:sp>
        <p:nvSpPr>
          <p:cNvPr id="5" name="object 9">
            <a:extLst>
              <a:ext uri="{FF2B5EF4-FFF2-40B4-BE49-F238E27FC236}">
                <a16:creationId xmlns:a16="http://schemas.microsoft.com/office/drawing/2014/main" id="{8211E223-DC26-039B-8BDB-1C06203507A1}"/>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10</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2</a:t>
            </a:r>
            <a:r>
              <a:rPr sz="1787" b="1" spc="-16" dirty="0">
                <a:solidFill>
                  <a:srgbClr val="001F5F"/>
                </a:solidFill>
                <a:latin typeface="Times New Roman"/>
                <a:cs typeface="Times New Roman"/>
              </a:rPr>
              <a:t>/2026</a:t>
            </a:r>
            <a:endParaRPr sz="1787" dirty="0">
              <a:latin typeface="Times New Roman"/>
              <a:cs typeface="Times New Roman"/>
            </a:endParaRPr>
          </a:p>
        </p:txBody>
      </p:sp>
      <p:pic>
        <p:nvPicPr>
          <p:cNvPr id="2" name="object 6">
            <a:extLst>
              <a:ext uri="{FF2B5EF4-FFF2-40B4-BE49-F238E27FC236}">
                <a16:creationId xmlns:a16="http://schemas.microsoft.com/office/drawing/2014/main" id="{65D7E92A-219B-6080-D2DE-F8E1C5F2B955}"/>
              </a:ext>
            </a:extLst>
          </p:cNvPr>
          <p:cNvPicPr/>
          <p:nvPr/>
        </p:nvPicPr>
        <p:blipFill>
          <a:blip r:embed="rId3" cstate="print"/>
          <a:stretch>
            <a:fillRect/>
          </a:stretch>
        </p:blipFill>
        <p:spPr>
          <a:xfrm>
            <a:off x="17900507" y="0"/>
            <a:ext cx="1831561" cy="1746207"/>
          </a:xfrm>
          <a:prstGeom prst="rect">
            <a:avLst/>
          </a:prstGeom>
        </p:spPr>
      </p:pic>
      <p:sp>
        <p:nvSpPr>
          <p:cNvPr id="9" name="object 10">
            <a:extLst>
              <a:ext uri="{FF2B5EF4-FFF2-40B4-BE49-F238E27FC236}">
                <a16:creationId xmlns:a16="http://schemas.microsoft.com/office/drawing/2014/main" id="{BF50F2C6-F316-8DD9-2822-6B89579F3D9E}"/>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TotalTime>
  <Words>1602</Words>
  <Application>Microsoft Office PowerPoint</Application>
  <PresentationFormat>Custom</PresentationFormat>
  <Paragraphs>206</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PowerPoint Presentation</vt:lpstr>
      <vt:lpstr>CONTENTS</vt:lpstr>
      <vt:lpstr>PowerPoint Presentation</vt:lpstr>
      <vt:lpstr>OBJECTIVES</vt:lpstr>
      <vt:lpstr>INTRODUCTION</vt:lpstr>
      <vt:lpstr>LITERATURE SURVEY</vt:lpstr>
      <vt:lpstr>PowerPoint Presentation</vt:lpstr>
      <vt:lpstr>PowerPoint Presentation</vt:lpstr>
      <vt:lpstr>PowerPoint Presentation</vt:lpstr>
      <vt:lpstr>PowerPoint Presentation</vt:lpstr>
      <vt:lpstr>PowerPoint Presentation</vt:lpstr>
      <vt:lpstr>PROPOSED SYSTEM</vt:lpstr>
      <vt:lpstr>ADVANTAGES  </vt:lpstr>
      <vt:lpstr>SYSTEM REQIREMENTS AND SPECIFICATIONS</vt:lpstr>
      <vt:lpstr>SYSTEM ARCHITECTURE</vt:lpstr>
      <vt:lpstr>PROPOSED ALGORITHM</vt:lpstr>
      <vt:lpstr> Step 1: Data Collection</vt:lpstr>
      <vt:lpstr>Step 3: Model Training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Krishna</dc:creator>
  <cp:lastModifiedBy>hemalakshmi bokka</cp:lastModifiedBy>
  <cp:revision>35</cp:revision>
  <dcterms:created xsi:type="dcterms:W3CDTF">2026-01-03T06:35:56Z</dcterms:created>
  <dcterms:modified xsi:type="dcterms:W3CDTF">2026-02-09T15:14:21Z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2026-01-03T00:00:00Z</vt:filetime>
  </property>
  <property fmtid="{D5CDD505-2E9C-101B-9397-08002B2CF9AE}" pid="3" name="LastSaved">
    <vt:filetime>2026-01-03T00:00:00Z</vt:filetime>
  </property>
  <property fmtid="{D5CDD505-2E9C-101B-9397-08002B2CF9AE}" pid="4" name="Producer">
    <vt:lpwstr>3-Heights(TM) PDF Security Shell 4.8.25.2 (http://www.pdf-tools.com)</vt:lpwstr>
  </property>
</Properties>
</file>