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03100" cy="7277100"/>
  <p:notesSz cx="12103100" cy="7277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7732" y="2255901"/>
            <a:ext cx="10287635" cy="15281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15465" y="4075176"/>
            <a:ext cx="8472170" cy="181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5155" y="1673733"/>
            <a:ext cx="5264848" cy="4802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33096" y="1673733"/>
            <a:ext cx="5264848" cy="4802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3308" y="2863591"/>
            <a:ext cx="5422713" cy="9139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52" y="2208014"/>
            <a:ext cx="11232863" cy="35867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355" y="2418626"/>
            <a:ext cx="10981690" cy="101939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2183" y="2912402"/>
            <a:ext cx="9157589" cy="10193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2295" y="441782"/>
            <a:ext cx="6858508" cy="1142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705" y="1396350"/>
            <a:ext cx="10736580" cy="434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90340" y="7044913"/>
            <a:ext cx="5006340" cy="19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0844" y="6846183"/>
            <a:ext cx="571500" cy="19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84103" y="6863512"/>
            <a:ext cx="244475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9811" y="2049856"/>
            <a:ext cx="11250930" cy="28308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ctr" marL="12700" marR="5080">
              <a:lnSpc>
                <a:spcPts val="3890"/>
              </a:lnSpc>
              <a:spcBef>
                <a:spcPts val="590"/>
              </a:spcBef>
            </a:pP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ROBUST</a:t>
            </a:r>
            <a:r>
              <a:rPr dirty="0" sz="3600" spc="-10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SPEECH</a:t>
            </a:r>
            <a:r>
              <a:rPr dirty="0" sz="3600" spc="-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EMOTION</a:t>
            </a:r>
            <a:r>
              <a:rPr dirty="0" sz="3600" spc="-1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RECOGNITION</a:t>
            </a:r>
            <a:r>
              <a:rPr dirty="0" sz="3600" spc="-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2E5496"/>
                </a:solidFill>
                <a:latin typeface="Times New Roman"/>
                <a:cs typeface="Times New Roman"/>
              </a:rPr>
              <a:t>USING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CNN+LSTM</a:t>
            </a:r>
            <a:r>
              <a:rPr dirty="0" sz="3600" spc="-2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BASED</a:t>
            </a:r>
            <a:r>
              <a:rPr dirty="0" sz="3600" spc="-6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ON</a:t>
            </a:r>
            <a:r>
              <a:rPr dirty="0" sz="3600" spc="-1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STOCHASTIC</a:t>
            </a:r>
            <a:r>
              <a:rPr dirty="0" sz="3600" spc="-5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2E5496"/>
                </a:solidFill>
                <a:latin typeface="Times New Roman"/>
                <a:cs typeface="Times New Roman"/>
              </a:rPr>
              <a:t>FRACTAL </a:t>
            </a:r>
            <a:r>
              <a:rPr dirty="0" sz="3600" b="1">
                <a:solidFill>
                  <a:srgbClr val="2E5496"/>
                </a:solidFill>
                <a:latin typeface="Times New Roman"/>
                <a:cs typeface="Times New Roman"/>
              </a:rPr>
              <a:t>SEARCH</a:t>
            </a:r>
            <a:r>
              <a:rPr dirty="0" sz="3600" spc="1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spc="-30" b="1">
                <a:solidFill>
                  <a:srgbClr val="2E5496"/>
                </a:solidFill>
                <a:latin typeface="Times New Roman"/>
                <a:cs typeface="Times New Roman"/>
              </a:rPr>
              <a:t>OPTIMIZATION</a:t>
            </a:r>
            <a:r>
              <a:rPr dirty="0" sz="3600" spc="-17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2E5496"/>
                </a:solidFill>
                <a:latin typeface="Times New Roman"/>
                <a:cs typeface="Times New Roman"/>
              </a:rPr>
              <a:t>ALGORITHM</a:t>
            </a:r>
            <a:endParaRPr sz="3600">
              <a:latin typeface="Times New Roman"/>
              <a:cs typeface="Times New Roman"/>
            </a:endParaRPr>
          </a:p>
          <a:p>
            <a:pPr algn="ctr" marL="20320">
              <a:lnSpc>
                <a:spcPct val="100000"/>
              </a:lnSpc>
              <a:spcBef>
                <a:spcPts val="2350"/>
              </a:spcBef>
            </a:pPr>
            <a:r>
              <a:rPr dirty="0" sz="2800">
                <a:latin typeface="Times New Roman"/>
                <a:cs typeface="Times New Roman"/>
              </a:rPr>
              <a:t>Under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the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esteemed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Guidance</a:t>
            </a:r>
            <a:r>
              <a:rPr dirty="0" sz="2700" spc="-50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of</a:t>
            </a:r>
            <a:endParaRPr sz="2700">
              <a:latin typeface="Times New Roman"/>
              <a:cs typeface="Times New Roman"/>
            </a:endParaRPr>
          </a:p>
          <a:p>
            <a:pPr algn="ctr" marL="14604">
              <a:lnSpc>
                <a:spcPct val="100000"/>
              </a:lnSpc>
              <a:spcBef>
                <a:spcPts val="855"/>
              </a:spcBef>
            </a:pPr>
            <a:r>
              <a:rPr dirty="0" sz="2800" spc="-70" b="1">
                <a:solidFill>
                  <a:srgbClr val="C00000"/>
                </a:solidFill>
                <a:latin typeface="Times New Roman"/>
                <a:cs typeface="Times New Roman"/>
              </a:rPr>
              <a:t>Mr.</a:t>
            </a:r>
            <a:r>
              <a:rPr dirty="0" sz="2800" spc="-114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C00000"/>
                </a:solidFill>
                <a:latin typeface="Times New Roman"/>
                <a:cs typeface="Times New Roman"/>
              </a:rPr>
              <a:t>M</a:t>
            </a:r>
            <a:r>
              <a:rPr dirty="0" sz="2800" spc="-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C00000"/>
                </a:solidFill>
                <a:latin typeface="Times New Roman"/>
                <a:cs typeface="Times New Roman"/>
              </a:rPr>
              <a:t>Ramakrishna</a:t>
            </a:r>
            <a:r>
              <a:rPr dirty="0" sz="2800" spc="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C00000"/>
                </a:solidFill>
                <a:latin typeface="Times New Roman"/>
                <a:cs typeface="Times New Roman"/>
              </a:rPr>
              <a:t>Raju</a:t>
            </a:r>
            <a:r>
              <a:rPr dirty="0" sz="2800" spc="-1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C00000"/>
                </a:solidFill>
                <a:latin typeface="Times New Roman"/>
                <a:cs typeface="Times New Roman"/>
              </a:rPr>
              <a:t>M.Tech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56314" y="6982459"/>
            <a:ext cx="1022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50">
                <a:solidFill>
                  <a:srgbClr val="001F5F"/>
                </a:solidFill>
                <a:latin typeface="Calibri"/>
                <a:cs typeface="Calibri"/>
              </a:rPr>
              <a:t>1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7697" y="13843"/>
            <a:ext cx="7651750" cy="155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400"/>
              </a:lnSpc>
              <a:spcBef>
                <a:spcPts val="114"/>
              </a:spcBef>
            </a:pPr>
            <a:r>
              <a:rPr dirty="0" sz="2000" spc="-40" b="1">
                <a:solidFill>
                  <a:srgbClr val="C00000"/>
                </a:solidFill>
                <a:latin typeface="Times New Roman"/>
                <a:cs typeface="Times New Roman"/>
              </a:rPr>
              <a:t>SRINIVASA</a:t>
            </a:r>
            <a:r>
              <a:rPr dirty="0" sz="2000" spc="-12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INSTITUTE</a:t>
            </a:r>
            <a:r>
              <a:rPr dirty="0" sz="2000" spc="-2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dirty="0" sz="2000" spc="-114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r>
              <a:rPr dirty="0" sz="2000" spc="-12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2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160"/>
              </a:lnSpc>
            </a:pPr>
            <a:r>
              <a:rPr dirty="0" sz="1800" b="1">
                <a:solidFill>
                  <a:srgbClr val="2E5496"/>
                </a:solidFill>
                <a:latin typeface="Times New Roman"/>
                <a:cs typeface="Times New Roman"/>
              </a:rPr>
              <a:t>(UGC</a:t>
            </a:r>
            <a:r>
              <a:rPr dirty="0" sz="1800" spc="-2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E5496"/>
                </a:solidFill>
                <a:latin typeface="Times New Roman"/>
                <a:cs typeface="Times New Roman"/>
              </a:rPr>
              <a:t>–</a:t>
            </a:r>
            <a:r>
              <a:rPr dirty="0" sz="1800" spc="-95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E5496"/>
                </a:solidFill>
                <a:latin typeface="Times New Roman"/>
                <a:cs typeface="Times New Roman"/>
              </a:rPr>
              <a:t>Autonomous </a:t>
            </a:r>
            <a:r>
              <a:rPr dirty="0" sz="1800" spc="-10" b="1">
                <a:solidFill>
                  <a:srgbClr val="2E5496"/>
                </a:solidFill>
                <a:latin typeface="Times New Roman"/>
                <a:cs typeface="Times New Roman"/>
              </a:rPr>
              <a:t>Institution)</a:t>
            </a:r>
            <a:endParaRPr sz="1800">
              <a:latin typeface="Times New Roman"/>
              <a:cs typeface="Times New Roman"/>
            </a:endParaRPr>
          </a:p>
          <a:p>
            <a:pPr algn="ctr" marR="635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(Approved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AICTE,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Permanently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affiliated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JNTUK,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Kakinada,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9001: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2015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Institution)</a:t>
            </a:r>
            <a:endParaRPr sz="14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  <a:spcBef>
                <a:spcPts val="10"/>
              </a:spcBef>
            </a:pPr>
            <a:r>
              <a:rPr dirty="0" sz="1400" spc="-10">
                <a:latin typeface="Times New Roman"/>
                <a:cs typeface="Times New Roman"/>
              </a:rPr>
              <a:t>(Accredited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NAAC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'A'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Grade;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Recognized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UGC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2(f)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12(B))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55"/>
              </a:lnSpc>
              <a:spcBef>
                <a:spcPts val="15"/>
              </a:spcBef>
            </a:pPr>
            <a:r>
              <a:rPr dirty="0" sz="1400" spc="-35">
                <a:latin typeface="Times New Roman"/>
                <a:cs typeface="Times New Roman"/>
              </a:rPr>
              <a:t>NH-</a:t>
            </a:r>
            <a:r>
              <a:rPr dirty="0" sz="1400">
                <a:latin typeface="Times New Roman"/>
                <a:cs typeface="Times New Roman"/>
              </a:rPr>
              <a:t>216,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Amalapuram-</a:t>
            </a:r>
            <a:r>
              <a:rPr dirty="0" sz="1400">
                <a:latin typeface="Times New Roman"/>
                <a:cs typeface="Times New Roman"/>
              </a:rPr>
              <a:t>Kakinada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Highway,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Cheyyeru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(V),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AMALAPURAM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45">
                <a:latin typeface="Times New Roman"/>
                <a:cs typeface="Times New Roman"/>
              </a:rPr>
              <a:t>-</a:t>
            </a:r>
            <a:r>
              <a:rPr dirty="0" sz="1400" spc="-10">
                <a:latin typeface="Times New Roman"/>
                <a:cs typeface="Times New Roman"/>
              </a:rPr>
              <a:t>533216.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2375"/>
              </a:lnSpc>
            </a:pPr>
            <a:r>
              <a:rPr dirty="0" sz="2000" spc="-30" b="1">
                <a:solidFill>
                  <a:srgbClr val="FF0000"/>
                </a:solidFill>
                <a:latin typeface="Times New Roman"/>
                <a:cs typeface="Times New Roman"/>
              </a:rPr>
              <a:t>DEPARTMENT</a:t>
            </a:r>
            <a:r>
              <a:rPr dirty="0" sz="20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114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COMPUTER</a:t>
            </a:r>
            <a:r>
              <a:rPr dirty="0" sz="2000" spc="-1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SCIENCE</a:t>
            </a:r>
            <a:r>
              <a:rPr dirty="0" sz="2000" spc="-8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dirty="0" sz="2000" spc="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863201" y="396113"/>
            <a:ext cx="2230755" cy="5130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725"/>
              </a:lnSpc>
            </a:pPr>
            <a:r>
              <a:rPr dirty="0" sz="3600" spc="-55" b="1">
                <a:solidFill>
                  <a:srgbClr val="2E5496"/>
                </a:solidFill>
                <a:latin typeface="Times New Roman"/>
                <a:cs typeface="Times New Roman"/>
              </a:rPr>
              <a:t>BATCH-</a:t>
            </a:r>
            <a:r>
              <a:rPr dirty="0" sz="3600" spc="-50" b="1">
                <a:solidFill>
                  <a:srgbClr val="2E5496"/>
                </a:solidFill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27048" cy="134873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785740" y="5048834"/>
            <a:ext cx="2533650" cy="3937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Assistant</a:t>
            </a:r>
            <a:r>
              <a:rPr dirty="0" sz="2400" spc="-6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Times New Roman"/>
                <a:cs typeface="Times New Roman"/>
              </a:rPr>
              <a:t>Professor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64779" y="5187137"/>
            <a:ext cx="3512820" cy="15506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14"/>
              </a:spcBef>
            </a:pPr>
            <a:r>
              <a:rPr dirty="0" sz="2000" b="1">
                <a:latin typeface="Times New Roman"/>
                <a:cs typeface="Times New Roman"/>
              </a:rPr>
              <a:t>Presented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by: </a:t>
            </a:r>
            <a:r>
              <a:rPr dirty="0" sz="2000" spc="-10">
                <a:latin typeface="Times New Roman"/>
                <a:cs typeface="Times New Roman"/>
              </a:rPr>
              <a:t>K.Jyothirmai(206N1A0527) S.L.Rohitha(206N1A0547) </a:t>
            </a:r>
            <a:r>
              <a:rPr dirty="0" sz="2000" spc="-25">
                <a:latin typeface="Times New Roman"/>
                <a:cs typeface="Times New Roman"/>
              </a:rPr>
              <a:t>B.N.N.Venkata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Sai(216N5A0503)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80"/>
              </a:lnSpc>
            </a:pPr>
            <a:r>
              <a:rPr dirty="0" sz="2000" spc="-10">
                <a:latin typeface="Times New Roman"/>
                <a:cs typeface="Times New Roman"/>
              </a:rPr>
              <a:t>B.Pavan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Akhilesh(216N5A0502)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105" y="7008368"/>
            <a:ext cx="57150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001F5F"/>
                </a:solidFill>
                <a:latin typeface="Times New Roman"/>
                <a:cs typeface="Times New Roman"/>
              </a:rPr>
              <a:t>1/2/2026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18940" y="7028484"/>
            <a:ext cx="446024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solidFill>
                  <a:srgbClr val="001F5F"/>
                </a:solidFill>
                <a:latin typeface="Times New Roman"/>
                <a:cs typeface="Times New Roman"/>
              </a:rPr>
              <a:t>DEPARTMENT</a:t>
            </a:r>
            <a:r>
              <a:rPr dirty="0" sz="1150" spc="1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dirty="0" sz="1150" spc="9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01F5F"/>
                </a:solidFill>
                <a:latin typeface="Times New Roman"/>
                <a:cs typeface="Times New Roman"/>
              </a:rPr>
              <a:t>COMPUTER</a:t>
            </a:r>
            <a:r>
              <a:rPr dirty="0" sz="1150" spc="1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01F5F"/>
                </a:solidFill>
                <a:latin typeface="Times New Roman"/>
                <a:cs typeface="Times New Roman"/>
              </a:rPr>
              <a:t>SCIENCE</a:t>
            </a:r>
            <a:r>
              <a:rPr dirty="0" sz="1150" spc="5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dirty="0" sz="1150" spc="21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51610" y="2179396"/>
            <a:ext cx="6476365" cy="301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5275" indent="-285750">
              <a:lnSpc>
                <a:spcPts val="3354"/>
              </a:lnSpc>
              <a:spcBef>
                <a:spcPts val="110"/>
              </a:spcBef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Abstract</a:t>
            </a:r>
            <a:endParaRPr sz="2800">
              <a:latin typeface="Times New Roman"/>
              <a:cs typeface="Times New Roman"/>
            </a:endParaRPr>
          </a:p>
          <a:p>
            <a:pPr marL="295275" indent="-285750">
              <a:lnSpc>
                <a:spcPts val="3354"/>
              </a:lnSpc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  <a:p>
            <a:pPr marL="295275" indent="-285750">
              <a:lnSpc>
                <a:spcPts val="3354"/>
              </a:lnSpc>
              <a:spcBef>
                <a:spcPts val="25"/>
              </a:spcBef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295275" indent="-285750">
              <a:lnSpc>
                <a:spcPts val="3350"/>
              </a:lnSpc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dirty="0" sz="2800" b="1">
                <a:latin typeface="Times New Roman"/>
                <a:cs typeface="Times New Roman"/>
              </a:rPr>
              <a:t>Literature</a:t>
            </a:r>
            <a:r>
              <a:rPr dirty="0" sz="2800" spc="-13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  <a:p>
            <a:pPr marL="295910" indent="-285750">
              <a:lnSpc>
                <a:spcPts val="3354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b="1">
                <a:latin typeface="Times New Roman"/>
                <a:cs typeface="Times New Roman"/>
              </a:rPr>
              <a:t>Existing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295910" indent="-285750">
              <a:lnSpc>
                <a:spcPts val="3354"/>
              </a:lnSpc>
              <a:spcBef>
                <a:spcPts val="2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b="1">
                <a:latin typeface="Times New Roman"/>
                <a:cs typeface="Times New Roman"/>
              </a:rPr>
              <a:t>Proposed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295275" indent="-285750">
              <a:lnSpc>
                <a:spcPts val="3354"/>
              </a:lnSpc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dirty="0" sz="2800" b="1">
                <a:latin typeface="Times New Roman"/>
                <a:cs typeface="Times New Roman"/>
              </a:rPr>
              <a:t>System</a:t>
            </a:r>
            <a:r>
              <a:rPr dirty="0" sz="2800" spc="-1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Requirements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Specifications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3005" y="593803"/>
            <a:ext cx="2518805" cy="3586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6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CONTENTS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99032" cy="1220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7319" y="666955"/>
            <a:ext cx="2500669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105" rIns="0" bIns="0" rtlCol="0" vert="horz">
            <a:spAutoFit/>
          </a:bodyPr>
          <a:lstStyle/>
          <a:p>
            <a:pPr marL="21799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70305" y="1854667"/>
            <a:ext cx="10509250" cy="3685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2860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addresses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speech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emotion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recognition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introducing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>
                <a:latin typeface="Times New Roman"/>
                <a:cs typeface="Times New Roman"/>
              </a:rPr>
              <a:t>novel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augmentation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algorithm.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enriches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dataset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adding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carefully </a:t>
            </a:r>
            <a:r>
              <a:rPr dirty="0" sz="2000">
                <a:latin typeface="Times New Roman"/>
                <a:cs typeface="Times New Roman"/>
              </a:rPr>
              <a:t>designed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noise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fractions.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Additionally,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paper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presents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optimized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deep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3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with </a:t>
            </a:r>
            <a:r>
              <a:rPr dirty="0" sz="2000">
                <a:latin typeface="Times New Roman"/>
                <a:cs typeface="Times New Roman"/>
              </a:rPr>
              <a:t>hyperparameters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fine-</a:t>
            </a:r>
            <a:r>
              <a:rPr dirty="0" sz="2000">
                <a:latin typeface="Times New Roman"/>
                <a:cs typeface="Times New Roman"/>
              </a:rPr>
              <a:t>tuned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stochastic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fractal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search-</a:t>
            </a:r>
            <a:r>
              <a:rPr dirty="0" sz="2000">
                <a:latin typeface="Times New Roman"/>
                <a:cs typeface="Times New Roman"/>
              </a:rPr>
              <a:t>guided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whale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optimization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algorithm.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model,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comprising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convolutional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neural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long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short-</a:t>
            </a:r>
            <a:r>
              <a:rPr dirty="0" sz="2000">
                <a:latin typeface="Times New Roman"/>
                <a:cs typeface="Times New Roman"/>
              </a:rPr>
              <a:t>term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memory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layer,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demonstrates </a:t>
            </a:r>
            <a:r>
              <a:rPr dirty="0" sz="2000">
                <a:latin typeface="Times New Roman"/>
                <a:cs typeface="Times New Roman"/>
              </a:rPr>
              <a:t>superior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performance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four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diverse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emotion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datasets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(IEMOCAP,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Emo-</a:t>
            </a:r>
            <a:r>
              <a:rPr dirty="0" sz="2000">
                <a:latin typeface="Times New Roman"/>
                <a:cs typeface="Times New Roman"/>
              </a:rPr>
              <a:t>DB,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RAVDESS,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SAVEE).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Experimental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results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showcase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recognition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respectively,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highlighting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effectiveness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stability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methodology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state-of-</a:t>
            </a:r>
            <a:r>
              <a:rPr dirty="0" sz="2000" spc="-10">
                <a:latin typeface="Times New Roman"/>
                <a:cs typeface="Times New Roman"/>
              </a:rPr>
              <a:t>the-</a:t>
            </a:r>
            <a:r>
              <a:rPr dirty="0" sz="2000">
                <a:latin typeface="Times New Roman"/>
                <a:cs typeface="Times New Roman"/>
              </a:rPr>
              <a:t>art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approaches.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70"/>
              <a:t> </a:t>
            </a:r>
            <a:r>
              <a:rPr dirty="0"/>
              <a:t>OF</a:t>
            </a:r>
            <a:r>
              <a:rPr dirty="0" spc="110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3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2432" y="781255"/>
            <a:ext cx="2902080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152" rIns="0" bIns="0" rtlCol="0" vert="horz">
            <a:spAutoFit/>
          </a:bodyPr>
          <a:lstStyle/>
          <a:p>
            <a:pPr marL="185737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3267" rIns="0" bIns="0" rtlCol="0" vert="horz">
            <a:spAutoFit/>
          </a:bodyPr>
          <a:lstStyle/>
          <a:p>
            <a:pPr marL="165100" marR="5080" indent="86360">
              <a:lnSpc>
                <a:spcPct val="150100"/>
              </a:lnSpc>
              <a:spcBef>
                <a:spcPts val="95"/>
              </a:spcBef>
            </a:pPr>
            <a:r>
              <a:rPr dirty="0" sz="2000" b="0">
                <a:latin typeface="Times New Roman"/>
                <a:cs typeface="Times New Roman"/>
              </a:rPr>
              <a:t>To</a:t>
            </a:r>
            <a:r>
              <a:rPr dirty="0" sz="2000" spc="17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rectify</a:t>
            </a:r>
            <a:r>
              <a:rPr dirty="0" sz="2000" spc="15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decryption</a:t>
            </a:r>
            <a:r>
              <a:rPr dirty="0" sz="2000" spc="16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limitations</a:t>
            </a:r>
            <a:r>
              <a:rPr dirty="0" sz="2000" spc="16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arising</a:t>
            </a:r>
            <a:r>
              <a:rPr dirty="0" sz="2000" spc="1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from</a:t>
            </a:r>
            <a:r>
              <a:rPr dirty="0" sz="2000" spc="13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the</a:t>
            </a:r>
            <a:r>
              <a:rPr dirty="0" sz="2000" spc="15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encryption</a:t>
            </a:r>
            <a:r>
              <a:rPr dirty="0" sz="2000" spc="15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scheme's</a:t>
            </a:r>
            <a:r>
              <a:rPr dirty="0" sz="2000" spc="18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pixel</a:t>
            </a:r>
            <a:r>
              <a:rPr dirty="0" sz="2000" spc="17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grouping</a:t>
            </a:r>
            <a:r>
              <a:rPr dirty="0" sz="2000" spc="14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method</a:t>
            </a:r>
            <a:r>
              <a:rPr dirty="0" sz="2000" spc="190" b="0">
                <a:latin typeface="Times New Roman"/>
                <a:cs typeface="Times New Roman"/>
              </a:rPr>
              <a:t> </a:t>
            </a:r>
            <a:r>
              <a:rPr dirty="0" sz="2000" spc="-20" b="0">
                <a:latin typeface="Times New Roman"/>
                <a:cs typeface="Times New Roman"/>
              </a:rPr>
              <a:t>when </a:t>
            </a:r>
            <a:r>
              <a:rPr dirty="0" sz="2000" b="0">
                <a:latin typeface="Times New Roman"/>
                <a:cs typeface="Times New Roman"/>
              </a:rPr>
              <a:t>encountering</a:t>
            </a:r>
            <a:r>
              <a:rPr dirty="0" sz="2000" spc="-14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large</a:t>
            </a:r>
            <a:r>
              <a:rPr dirty="0" sz="2000" spc="-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integers</a:t>
            </a:r>
            <a:r>
              <a:rPr dirty="0" sz="2000" spc="-7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surpassing</a:t>
            </a:r>
            <a:r>
              <a:rPr dirty="0" sz="2000" spc="-10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the</a:t>
            </a:r>
            <a:r>
              <a:rPr dirty="0" sz="2000" spc="-3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elliptic</a:t>
            </a:r>
            <a:r>
              <a:rPr dirty="0" sz="2000" spc="-3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curve's</a:t>
            </a:r>
            <a:r>
              <a:rPr dirty="0" sz="2000" spc="1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prime</a:t>
            </a:r>
            <a:r>
              <a:rPr dirty="0" sz="2000" spc="-35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parameter.</a:t>
            </a:r>
            <a:endParaRPr sz="2000">
              <a:latin typeface="Times New Roman"/>
              <a:cs typeface="Times New Roman"/>
            </a:endParaRPr>
          </a:p>
          <a:p>
            <a:pPr marL="165100" marR="5080" indent="77470">
              <a:lnSpc>
                <a:spcPct val="150100"/>
              </a:lnSpc>
              <a:spcBef>
                <a:spcPts val="1010"/>
              </a:spcBef>
            </a:pPr>
            <a:r>
              <a:rPr dirty="0" sz="2000" b="0">
                <a:latin typeface="Times New Roman"/>
                <a:cs typeface="Times New Roman"/>
              </a:rPr>
              <a:t>Addressing</a:t>
            </a:r>
            <a:r>
              <a:rPr dirty="0" sz="2000" spc="29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decryption</a:t>
            </a:r>
            <a:r>
              <a:rPr dirty="0" sz="2000" spc="3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inaccuracies</a:t>
            </a:r>
            <a:r>
              <a:rPr dirty="0" sz="2000" spc="36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caused</a:t>
            </a:r>
            <a:r>
              <a:rPr dirty="0" sz="2000" spc="3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by</a:t>
            </a:r>
            <a:r>
              <a:rPr dirty="0" sz="2000" spc="31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large</a:t>
            </a:r>
            <a:r>
              <a:rPr dirty="0" sz="2000" spc="3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integers</a:t>
            </a:r>
            <a:r>
              <a:rPr dirty="0" sz="2000" spc="34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surpassing</a:t>
            </a:r>
            <a:r>
              <a:rPr dirty="0" sz="2000" spc="31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the</a:t>
            </a:r>
            <a:r>
              <a:rPr dirty="0" sz="2000" spc="32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elliptic</a:t>
            </a:r>
            <a:r>
              <a:rPr dirty="0" sz="2000" spc="32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curve’s</a:t>
            </a:r>
            <a:r>
              <a:rPr dirty="0" sz="2000" spc="355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prime </a:t>
            </a:r>
            <a:r>
              <a:rPr dirty="0" sz="2000" b="0">
                <a:latin typeface="Times New Roman"/>
                <a:cs typeface="Times New Roman"/>
              </a:rPr>
              <a:t>parameter</a:t>
            </a:r>
            <a:r>
              <a:rPr dirty="0" sz="2000" spc="-12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in</a:t>
            </a:r>
            <a:r>
              <a:rPr dirty="0" sz="2000" spc="1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a</a:t>
            </a:r>
            <a:r>
              <a:rPr dirty="0" sz="2000" spc="2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pixel</a:t>
            </a:r>
            <a:r>
              <a:rPr dirty="0" sz="2000" spc="-5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grouping-</a:t>
            </a:r>
            <a:r>
              <a:rPr dirty="0" sz="2000" b="0">
                <a:latin typeface="Times New Roman"/>
                <a:cs typeface="Times New Roman"/>
              </a:rPr>
              <a:t>based</a:t>
            </a:r>
            <a:r>
              <a:rPr dirty="0" sz="2000" spc="-1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encryption</a:t>
            </a:r>
            <a:r>
              <a:rPr dirty="0" sz="2000" spc="-55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scheme.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65"/>
              <a:t> </a:t>
            </a:r>
            <a:r>
              <a:rPr dirty="0"/>
              <a:t>OF</a:t>
            </a:r>
            <a:r>
              <a:rPr dirty="0" spc="114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2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148" y="922987"/>
            <a:ext cx="3665597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7748" y="772109"/>
            <a:ext cx="368681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70305" y="1473606"/>
            <a:ext cx="10513695" cy="4600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7305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area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transmission,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safeguarding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multimedia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unauthorized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become </a:t>
            </a:r>
            <a:r>
              <a:rPr dirty="0" sz="2000">
                <a:latin typeface="Times New Roman"/>
                <a:cs typeface="Times New Roman"/>
              </a:rPr>
              <a:t>pivotal.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Cryptographic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purpose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face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cryptanalysis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attacks, </a:t>
            </a:r>
            <a:r>
              <a:rPr dirty="0" sz="2000">
                <a:latin typeface="Times New Roman"/>
                <a:cs typeface="Times New Roman"/>
              </a:rPr>
              <a:t>leading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continuous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improvements.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gained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traction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due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its </a:t>
            </a:r>
            <a:r>
              <a:rPr dirty="0" sz="2000">
                <a:latin typeface="Times New Roman"/>
                <a:cs typeface="Times New Roman"/>
              </a:rPr>
              <a:t>robustness  and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simplicity.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Yet,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those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maps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entropy </a:t>
            </a:r>
            <a:r>
              <a:rPr dirty="0" sz="2000">
                <a:latin typeface="Times New Roman"/>
                <a:cs typeface="Times New Roman"/>
              </a:rPr>
              <a:t>encountered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vulnerabilities,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highlighted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subsequent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analyses.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Various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attempts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emerged,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as </a:t>
            </a:r>
            <a:r>
              <a:rPr dirty="0" sz="2000">
                <a:latin typeface="Times New Roman"/>
                <a:cs typeface="Times New Roman"/>
              </a:rPr>
              <a:t>combining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utilizing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maps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plane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manipulation. </a:t>
            </a:r>
            <a:r>
              <a:rPr dirty="0" sz="2000">
                <a:latin typeface="Times New Roman"/>
                <a:cs typeface="Times New Roman"/>
              </a:rPr>
              <a:t>However,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faced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vulnerabilities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against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chosen-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known-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attacks. </a:t>
            </a:r>
            <a:r>
              <a:rPr dirty="0" sz="2000">
                <a:latin typeface="Times New Roman"/>
                <a:cs typeface="Times New Roman"/>
              </a:rPr>
              <a:t>Advancements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9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hyper-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seemed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promising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succumbed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reversibility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>
                <a:latin typeface="Times New Roman"/>
                <a:cs typeface="Times New Roman"/>
              </a:rPr>
              <a:t>permutation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stability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diffusion.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Novel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approaches,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employing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DNA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computing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hybrid </a:t>
            </a:r>
            <a:r>
              <a:rPr dirty="0" sz="2000">
                <a:latin typeface="Times New Roman"/>
                <a:cs typeface="Times New Roman"/>
              </a:rPr>
              <a:t>models,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showcased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innovation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faced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 ensuring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robust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encryption.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7228" y="630674"/>
            <a:ext cx="4983491" cy="3492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10153" y="471627"/>
            <a:ext cx="49911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LITERATURE</a:t>
            </a:r>
            <a:r>
              <a:rPr dirty="0" spc="-200"/>
              <a:t> </a:t>
            </a:r>
            <a:r>
              <a:rPr dirty="0" spc="-10"/>
              <a:t>SURVEY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100330" indent="406400">
              <a:lnSpc>
                <a:spcPct val="125099"/>
              </a:lnSpc>
              <a:spcBef>
                <a:spcPts val="95"/>
              </a:spcBef>
              <a:buAutoNum type="arabicPlain"/>
              <a:tabLst>
                <a:tab pos="419100" algn="l"/>
              </a:tabLst>
            </a:pPr>
            <a:r>
              <a:rPr dirty="0"/>
              <a:t>Secure</a:t>
            </a:r>
            <a:r>
              <a:rPr dirty="0" spc="-75"/>
              <a:t> </a:t>
            </a:r>
            <a:r>
              <a:rPr dirty="0"/>
              <a:t>image</a:t>
            </a:r>
            <a:r>
              <a:rPr dirty="0" spc="-40"/>
              <a:t> </a:t>
            </a:r>
            <a:r>
              <a:rPr dirty="0"/>
              <a:t>transmission</a:t>
            </a:r>
            <a:r>
              <a:rPr dirty="0" spc="-8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/>
              <a:t>chaotic-enhanced</a:t>
            </a:r>
            <a:r>
              <a:rPr dirty="0" spc="-140"/>
              <a:t> </a:t>
            </a:r>
            <a:r>
              <a:rPr dirty="0"/>
              <a:t>elliptic</a:t>
            </a:r>
            <a:r>
              <a:rPr dirty="0" spc="-95"/>
              <a:t> </a:t>
            </a:r>
            <a:r>
              <a:rPr dirty="0"/>
              <a:t>curve</a:t>
            </a:r>
            <a:r>
              <a:rPr dirty="0" spc="-70"/>
              <a:t> </a:t>
            </a:r>
            <a:r>
              <a:rPr dirty="0" spc="-10"/>
              <a:t>cryptography </a:t>
            </a:r>
            <a:r>
              <a:rPr dirty="0"/>
              <a:t>(Abdelfatah</a:t>
            </a:r>
            <a:r>
              <a:rPr dirty="0" spc="-70"/>
              <a:t> </a:t>
            </a:r>
            <a:r>
              <a:rPr dirty="0" spc="-25"/>
              <a:t>RI)</a:t>
            </a:r>
          </a:p>
          <a:p>
            <a:pPr algn="just" lvl="1" marL="239395" marR="5080" indent="-226695">
              <a:lnSpc>
                <a:spcPct val="1501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paper,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novel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transmission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introduced.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scheme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block-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(BBEC)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public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first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stage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solves</a:t>
            </a:r>
            <a:r>
              <a:rPr dirty="0" sz="2000" spc="3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distribution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symmetric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efficient 	method.</a:t>
            </a:r>
            <a:endParaRPr sz="2000">
              <a:latin typeface="Times New Roman"/>
              <a:cs typeface="Times New Roman"/>
            </a:endParaRPr>
          </a:p>
          <a:p>
            <a:pPr algn="just" lvl="1" marL="239395" marR="5080" indent="-226695">
              <a:lnSpc>
                <a:spcPct val="1501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first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stage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BBEC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enhanced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second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stage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encryption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XOR 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BBEC first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stage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output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pseudo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random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sequence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designed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multi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pseudo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random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generator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STH.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4105" y="1476883"/>
            <a:ext cx="10380345" cy="1047115"/>
          </a:xfrm>
          <a:prstGeom prst="rect"/>
        </p:spPr>
        <p:txBody>
          <a:bodyPr wrap="square" lIns="0" tIns="55879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39"/>
              </a:spcBef>
              <a:tabLst>
                <a:tab pos="419734" algn="l"/>
              </a:tabLst>
            </a:pPr>
            <a:r>
              <a:rPr dirty="0" sz="2400" spc="-25"/>
              <a:t>2]</a:t>
            </a:r>
            <a:r>
              <a:rPr dirty="0" sz="2400"/>
              <a:t>	Cryptanalysis</a:t>
            </a:r>
            <a:r>
              <a:rPr dirty="0" sz="2400" spc="-80"/>
              <a:t> </a:t>
            </a:r>
            <a:r>
              <a:rPr dirty="0" sz="2400"/>
              <a:t>of</a:t>
            </a:r>
            <a:r>
              <a:rPr dirty="0" sz="2400" spc="-15"/>
              <a:t> </a:t>
            </a:r>
            <a:r>
              <a:rPr dirty="0" sz="2400"/>
              <a:t>a</a:t>
            </a:r>
            <a:r>
              <a:rPr dirty="0" sz="2400" spc="15"/>
              <a:t> </a:t>
            </a:r>
            <a:r>
              <a:rPr dirty="0" sz="2400"/>
              <a:t>chaotic</a:t>
            </a:r>
            <a:r>
              <a:rPr dirty="0" sz="2400" spc="-70"/>
              <a:t> </a:t>
            </a:r>
            <a:r>
              <a:rPr dirty="0" sz="2400"/>
              <a:t>image</a:t>
            </a:r>
            <a:r>
              <a:rPr dirty="0" sz="2400" spc="10"/>
              <a:t> </a:t>
            </a:r>
            <a:r>
              <a:rPr dirty="0" sz="2400"/>
              <a:t>encryption</a:t>
            </a:r>
            <a:r>
              <a:rPr dirty="0" sz="2400" spc="-80"/>
              <a:t> </a:t>
            </a:r>
            <a:r>
              <a:rPr dirty="0" sz="2400"/>
              <a:t>algorithm</a:t>
            </a:r>
            <a:r>
              <a:rPr dirty="0" sz="2400" spc="-110"/>
              <a:t> </a:t>
            </a:r>
            <a:r>
              <a:rPr dirty="0" sz="2400"/>
              <a:t>based</a:t>
            </a:r>
            <a:r>
              <a:rPr dirty="0" sz="2400" spc="-10"/>
              <a:t> </a:t>
            </a:r>
            <a:r>
              <a:rPr dirty="0" sz="2400"/>
              <a:t>on</a:t>
            </a:r>
            <a:r>
              <a:rPr dirty="0" sz="2400" spc="-15"/>
              <a:t> </a:t>
            </a:r>
            <a:r>
              <a:rPr dirty="0" sz="2400" spc="-10"/>
              <a:t>information entropy</a:t>
            </a:r>
            <a:endParaRPr sz="2400"/>
          </a:p>
          <a:p>
            <a:pPr marL="12700">
              <a:lnSpc>
                <a:spcPts val="2520"/>
              </a:lnSpc>
            </a:pPr>
            <a:r>
              <a:rPr dirty="0" sz="2400"/>
              <a:t>(Li</a:t>
            </a:r>
            <a:r>
              <a:rPr dirty="0" sz="2400" spc="-10"/>
              <a:t> </a:t>
            </a:r>
            <a:r>
              <a:rPr dirty="0" sz="2400"/>
              <a:t>C,</a:t>
            </a:r>
            <a:r>
              <a:rPr dirty="0" sz="2400" spc="-10"/>
              <a:t> </a:t>
            </a:r>
            <a:r>
              <a:rPr dirty="0" sz="2400"/>
              <a:t>Lin</a:t>
            </a:r>
            <a:r>
              <a:rPr dirty="0" sz="2400" spc="-30"/>
              <a:t> </a:t>
            </a:r>
            <a:r>
              <a:rPr dirty="0" sz="2400"/>
              <a:t>D,</a:t>
            </a:r>
            <a:r>
              <a:rPr dirty="0" sz="2400" spc="25"/>
              <a:t> </a:t>
            </a:r>
            <a:r>
              <a:rPr dirty="0" sz="2400"/>
              <a:t>Feng</a:t>
            </a:r>
            <a:r>
              <a:rPr dirty="0" sz="2400" spc="-35"/>
              <a:t> </a:t>
            </a:r>
            <a:r>
              <a:rPr dirty="0" sz="2400"/>
              <a:t>B,</a:t>
            </a:r>
            <a:r>
              <a:rPr dirty="0" sz="2400" spc="-15"/>
              <a:t> </a:t>
            </a:r>
            <a:r>
              <a:rPr dirty="0" sz="2400"/>
              <a:t>L¨u</a:t>
            </a:r>
            <a:r>
              <a:rPr dirty="0" sz="2400" spc="-95"/>
              <a:t> </a:t>
            </a:r>
            <a:r>
              <a:rPr dirty="0" sz="2400"/>
              <a:t>J,</a:t>
            </a:r>
            <a:r>
              <a:rPr dirty="0" sz="2400" spc="-10"/>
              <a:t> </a:t>
            </a:r>
            <a:r>
              <a:rPr dirty="0" sz="2400"/>
              <a:t>Hao</a:t>
            </a:r>
            <a:r>
              <a:rPr dirty="0" sz="2400" spc="-40"/>
              <a:t> </a:t>
            </a:r>
            <a:r>
              <a:rPr dirty="0" sz="2400" spc="-25"/>
              <a:t>F)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70305" y="2945333"/>
            <a:ext cx="10443210" cy="2817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14"/>
              </a:spcBef>
            </a:pPr>
            <a:r>
              <a:rPr dirty="0" sz="2000" spc="-20">
                <a:latin typeface="Times New Roman"/>
                <a:cs typeface="Times New Roman"/>
              </a:rPr>
              <a:t>Recently,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chaotic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 encryption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 information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entropy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(IEAIE)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proposed.</a:t>
            </a:r>
            <a:endParaRPr sz="2000">
              <a:latin typeface="Times New Roman"/>
              <a:cs typeface="Times New Roman"/>
            </a:endParaRPr>
          </a:p>
          <a:p>
            <a:pPr marL="12700" marR="339725">
              <a:lnSpc>
                <a:spcPct val="150100"/>
              </a:lnSpc>
              <a:spcBef>
                <a:spcPts val="540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paper scrutinizes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evaluates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validity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used </a:t>
            </a:r>
            <a:r>
              <a:rPr dirty="0" sz="2000">
                <a:latin typeface="Times New Roman"/>
                <a:cs typeface="Times New Roman"/>
              </a:rPr>
              <a:t>quantifiable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metrics</a:t>
            </a:r>
            <a:endParaRPr sz="2000">
              <a:latin typeface="Times New Roman"/>
              <a:cs typeface="Times New Roman"/>
            </a:endParaRPr>
          </a:p>
          <a:p>
            <a:pPr algn="just" marL="12700" marR="5080" indent="86995">
              <a:lnSpc>
                <a:spcPct val="150100"/>
              </a:lnSpc>
              <a:spcBef>
                <a:spcPts val="1010"/>
              </a:spcBef>
            </a:pPr>
            <a:r>
              <a:rPr dirty="0" sz="2000">
                <a:latin typeface="Times New Roman"/>
                <a:cs typeface="Times New Roman"/>
              </a:rPr>
              <a:t>Even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worse,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metric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questionable,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undermines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credibility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IEAIE. </a:t>
            </a:r>
            <a:r>
              <a:rPr dirty="0" sz="2000">
                <a:latin typeface="Times New Roman"/>
                <a:cs typeface="Times New Roman"/>
              </a:rPr>
              <a:t>Hence,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IEAIE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counterexample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illustrating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pitfalls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secure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810" y="1692986"/>
            <a:ext cx="9766935" cy="1052830"/>
          </a:xfrm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40"/>
              </a:spcBef>
              <a:tabLst>
                <a:tab pos="418465" algn="l"/>
              </a:tabLst>
            </a:pPr>
            <a:r>
              <a:rPr dirty="0" sz="2400" spc="-25"/>
              <a:t>3]</a:t>
            </a:r>
            <a:r>
              <a:rPr dirty="0" sz="2400"/>
              <a:t>	Cryptanalysis</a:t>
            </a:r>
            <a:r>
              <a:rPr dirty="0" sz="2400" spc="-125"/>
              <a:t> </a:t>
            </a:r>
            <a:r>
              <a:rPr dirty="0" sz="2400"/>
              <a:t>and</a:t>
            </a:r>
            <a:r>
              <a:rPr dirty="0" sz="2400" spc="-45"/>
              <a:t> </a:t>
            </a:r>
            <a:r>
              <a:rPr dirty="0" sz="2400" spc="-10"/>
              <a:t>improvement</a:t>
            </a:r>
            <a:r>
              <a:rPr dirty="0" sz="2400" spc="15"/>
              <a:t> </a:t>
            </a:r>
            <a:r>
              <a:rPr dirty="0" sz="2400"/>
              <a:t>in</a:t>
            </a:r>
            <a:r>
              <a:rPr dirty="0" sz="2400" spc="-45"/>
              <a:t> </a:t>
            </a:r>
            <a:r>
              <a:rPr dirty="0" sz="2400"/>
              <a:t>a</a:t>
            </a:r>
            <a:r>
              <a:rPr dirty="0" sz="2400" spc="-20"/>
              <a:t> </a:t>
            </a:r>
            <a:r>
              <a:rPr dirty="0" sz="2400"/>
              <a:t>plaintext-</a:t>
            </a:r>
            <a:r>
              <a:rPr dirty="0" sz="2400" spc="-10"/>
              <a:t>related</a:t>
            </a:r>
            <a:r>
              <a:rPr dirty="0" sz="2400" spc="-145"/>
              <a:t> </a:t>
            </a:r>
            <a:r>
              <a:rPr dirty="0" sz="2400"/>
              <a:t>image</a:t>
            </a:r>
            <a:r>
              <a:rPr dirty="0" sz="2400" spc="-30"/>
              <a:t> </a:t>
            </a:r>
            <a:r>
              <a:rPr dirty="0" sz="2400" spc="-10"/>
              <a:t>encryption </a:t>
            </a:r>
            <a:r>
              <a:rPr dirty="0" sz="2400"/>
              <a:t>scheme</a:t>
            </a:r>
            <a:r>
              <a:rPr dirty="0" sz="2400" spc="-10"/>
              <a:t> </a:t>
            </a:r>
            <a:r>
              <a:rPr dirty="0" sz="2400"/>
              <a:t>based</a:t>
            </a:r>
            <a:r>
              <a:rPr dirty="0" sz="2400" spc="-45"/>
              <a:t> </a:t>
            </a:r>
            <a:r>
              <a:rPr dirty="0" sz="2400"/>
              <a:t>on</a:t>
            </a:r>
            <a:r>
              <a:rPr dirty="0" sz="2400" spc="-50"/>
              <a:t> </a:t>
            </a:r>
            <a:r>
              <a:rPr dirty="0" sz="2400"/>
              <a:t>hyper</a:t>
            </a:r>
            <a:r>
              <a:rPr dirty="0" sz="2400" spc="-100"/>
              <a:t> </a:t>
            </a:r>
            <a:r>
              <a:rPr dirty="0" sz="2400" spc="-10"/>
              <a:t>chaos</a:t>
            </a:r>
            <a:endParaRPr sz="2400"/>
          </a:p>
          <a:p>
            <a:pPr marL="12700">
              <a:lnSpc>
                <a:spcPts val="2560"/>
              </a:lnSpc>
            </a:pPr>
            <a:r>
              <a:rPr dirty="0" sz="2400"/>
              <a:t>(Liu</a:t>
            </a:r>
            <a:r>
              <a:rPr dirty="0" sz="2400" spc="-50"/>
              <a:t> </a:t>
            </a:r>
            <a:r>
              <a:rPr dirty="0" sz="2400"/>
              <a:t>L,</a:t>
            </a:r>
            <a:r>
              <a:rPr dirty="0" sz="2400" spc="-35"/>
              <a:t> </a:t>
            </a:r>
            <a:r>
              <a:rPr dirty="0" sz="2400"/>
              <a:t>Zhang</a:t>
            </a:r>
            <a:r>
              <a:rPr dirty="0" sz="2400" spc="-25"/>
              <a:t> </a:t>
            </a:r>
            <a:r>
              <a:rPr dirty="0" sz="2400"/>
              <a:t>Z, Chen</a:t>
            </a:r>
            <a:r>
              <a:rPr dirty="0" sz="2400" spc="-45"/>
              <a:t> </a:t>
            </a:r>
            <a:r>
              <a:rPr dirty="0" sz="2400" spc="-25"/>
              <a:t>R)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46810" y="2845648"/>
            <a:ext cx="10509885" cy="2770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7305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Recently,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plaintext-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hyper-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been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scheme,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permutation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sum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values,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diffusion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nine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special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positions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permuted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image.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resist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chosen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attack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due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ever-</a:t>
            </a:r>
            <a:r>
              <a:rPr dirty="0" sz="2000" spc="-10">
                <a:latin typeface="Times New Roman"/>
                <a:cs typeface="Times New Roman"/>
              </a:rPr>
              <a:t>changing </a:t>
            </a:r>
            <a:r>
              <a:rPr dirty="0" sz="2000">
                <a:latin typeface="Times New Roman"/>
                <a:cs typeface="Times New Roman"/>
              </a:rPr>
              <a:t>permutation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matrix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diffusion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matrix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changed.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Here,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show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Li’s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contains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vulnerabilities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70"/>
              <a:t> </a:t>
            </a:r>
            <a:r>
              <a:rPr dirty="0"/>
              <a:t>OF</a:t>
            </a:r>
            <a:r>
              <a:rPr dirty="0" spc="110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3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010" y="1692986"/>
            <a:ext cx="9920605" cy="1052830"/>
          </a:xfrm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40"/>
              </a:spcBef>
              <a:tabLst>
                <a:tab pos="418465" algn="l"/>
              </a:tabLst>
            </a:pPr>
            <a:r>
              <a:rPr dirty="0" sz="2400" spc="-25"/>
              <a:t>4]</a:t>
            </a:r>
            <a:r>
              <a:rPr dirty="0" sz="2400"/>
              <a:t>	Cryptanalysis</a:t>
            </a:r>
            <a:r>
              <a:rPr dirty="0" sz="2400" spc="-130"/>
              <a:t> </a:t>
            </a:r>
            <a:r>
              <a:rPr dirty="0" sz="2400"/>
              <a:t>and</a:t>
            </a:r>
            <a:r>
              <a:rPr dirty="0" sz="2400" spc="-60"/>
              <a:t> </a:t>
            </a:r>
            <a:r>
              <a:rPr dirty="0" sz="2400"/>
              <a:t>enhancement</a:t>
            </a:r>
            <a:r>
              <a:rPr dirty="0" sz="2400" spc="-30"/>
              <a:t> </a:t>
            </a:r>
            <a:r>
              <a:rPr dirty="0" sz="2400"/>
              <a:t>of</a:t>
            </a:r>
            <a:r>
              <a:rPr dirty="0" sz="2400" spc="-65"/>
              <a:t> </a:t>
            </a:r>
            <a:r>
              <a:rPr dirty="0" sz="2400"/>
              <a:t>an</a:t>
            </a:r>
            <a:r>
              <a:rPr dirty="0" sz="2400" spc="-60"/>
              <a:t> </a:t>
            </a:r>
            <a:r>
              <a:rPr dirty="0" sz="2400"/>
              <a:t>image</a:t>
            </a:r>
            <a:r>
              <a:rPr dirty="0" sz="2400" spc="-45"/>
              <a:t> </a:t>
            </a:r>
            <a:r>
              <a:rPr dirty="0" sz="2400"/>
              <a:t>encryption</a:t>
            </a:r>
            <a:r>
              <a:rPr dirty="0" sz="2400" spc="-125"/>
              <a:t> </a:t>
            </a:r>
            <a:r>
              <a:rPr dirty="0" sz="2400"/>
              <a:t>scheme</a:t>
            </a:r>
            <a:r>
              <a:rPr dirty="0" sz="2400" spc="-20"/>
              <a:t> </a:t>
            </a:r>
            <a:r>
              <a:rPr dirty="0" sz="2400"/>
              <a:t>based</a:t>
            </a:r>
            <a:r>
              <a:rPr dirty="0" sz="2400" spc="-60"/>
              <a:t> </a:t>
            </a:r>
            <a:r>
              <a:rPr dirty="0" sz="2400" spc="-25"/>
              <a:t>on </a:t>
            </a:r>
            <a:r>
              <a:rPr dirty="0" sz="2400" spc="-10"/>
              <a:t>bit-</a:t>
            </a:r>
            <a:r>
              <a:rPr dirty="0" sz="2400"/>
              <a:t>plane</a:t>
            </a:r>
            <a:r>
              <a:rPr dirty="0" sz="2400" spc="-60"/>
              <a:t> </a:t>
            </a:r>
            <a:r>
              <a:rPr dirty="0" sz="2400"/>
              <a:t>extraction</a:t>
            </a:r>
            <a:r>
              <a:rPr dirty="0" sz="2400" spc="-110"/>
              <a:t> </a:t>
            </a:r>
            <a:r>
              <a:rPr dirty="0" sz="2400"/>
              <a:t>and multiple</a:t>
            </a:r>
            <a:r>
              <a:rPr dirty="0" sz="2400" spc="-20"/>
              <a:t> </a:t>
            </a:r>
            <a:r>
              <a:rPr dirty="0" sz="2400"/>
              <a:t>chaotic</a:t>
            </a:r>
            <a:r>
              <a:rPr dirty="0" sz="2400" spc="-90"/>
              <a:t> </a:t>
            </a:r>
            <a:r>
              <a:rPr dirty="0" sz="2400" spc="-20"/>
              <a:t>maps</a:t>
            </a:r>
            <a:endParaRPr sz="2400"/>
          </a:p>
          <a:p>
            <a:pPr marL="12700">
              <a:lnSpc>
                <a:spcPts val="2560"/>
              </a:lnSpc>
            </a:pPr>
            <a:r>
              <a:rPr dirty="0" sz="2400"/>
              <a:t>(Liu</a:t>
            </a:r>
            <a:r>
              <a:rPr dirty="0" sz="2400" spc="-150"/>
              <a:t> </a:t>
            </a:r>
            <a:r>
              <a:rPr dirty="0" sz="2400" spc="-65"/>
              <a:t>Y,</a:t>
            </a:r>
            <a:r>
              <a:rPr dirty="0" sz="2400" spc="-55"/>
              <a:t> </a:t>
            </a:r>
            <a:r>
              <a:rPr dirty="0" sz="2400"/>
              <a:t>Qin</a:t>
            </a:r>
            <a:r>
              <a:rPr dirty="0" sz="2400" spc="-70"/>
              <a:t> </a:t>
            </a:r>
            <a:r>
              <a:rPr dirty="0" sz="2400"/>
              <a:t>Z,</a:t>
            </a:r>
            <a:r>
              <a:rPr dirty="0" sz="2400" spc="-95"/>
              <a:t> </a:t>
            </a:r>
            <a:r>
              <a:rPr dirty="0" sz="2400"/>
              <a:t>Wu</a:t>
            </a:r>
            <a:r>
              <a:rPr dirty="0" sz="2400" spc="-5"/>
              <a:t> </a:t>
            </a:r>
            <a:r>
              <a:rPr dirty="0" sz="2400" spc="-25"/>
              <a:t>J)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46810" y="2769448"/>
            <a:ext cx="10516235" cy="2898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7305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Recently,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combining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bit-</a:t>
            </a:r>
            <a:r>
              <a:rPr dirty="0" sz="2000">
                <a:latin typeface="Times New Roman"/>
                <a:cs typeface="Times New Roman"/>
              </a:rPr>
              <a:t>plane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extraction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maps </a:t>
            </a:r>
            <a:r>
              <a:rPr dirty="0" sz="2000">
                <a:latin typeface="Times New Roman"/>
                <a:cs typeface="Times New Roman"/>
              </a:rPr>
              <a:t>(IESBC)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proposed.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extracts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binary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bit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planes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plain-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bit- </a:t>
            </a:r>
            <a:r>
              <a:rPr dirty="0" sz="2000">
                <a:latin typeface="Times New Roman"/>
                <a:cs typeface="Times New Roman"/>
              </a:rPr>
              <a:t>level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permutation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confusion,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controlled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pseudo-</a:t>
            </a:r>
            <a:r>
              <a:rPr dirty="0" sz="2000">
                <a:latin typeface="Times New Roman"/>
                <a:cs typeface="Times New Roman"/>
              </a:rPr>
              <a:t>random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sequence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random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generated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Logistic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respectively.</a:t>
            </a:r>
            <a:endParaRPr sz="2000">
              <a:latin typeface="Times New Roman"/>
              <a:cs typeface="Times New Roman"/>
            </a:endParaRPr>
          </a:p>
          <a:p>
            <a:pPr algn="just" marL="12700" marR="9525" indent="22860">
              <a:lnSpc>
                <a:spcPct val="150100"/>
              </a:lnSpc>
              <a:spcBef>
                <a:spcPts val="1010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paper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analyzes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weak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points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IESBC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proposes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known-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attack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chosen- </a:t>
            </a:r>
            <a:r>
              <a:rPr dirty="0" sz="2000">
                <a:latin typeface="Times New Roman"/>
                <a:cs typeface="Times New Roman"/>
              </a:rPr>
              <a:t>plaintext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attack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87227" y="6863512"/>
            <a:ext cx="10223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5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810" y="1781378"/>
            <a:ext cx="10005060" cy="723265"/>
          </a:xfrm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40"/>
              </a:spcBef>
              <a:tabLst>
                <a:tab pos="418465" algn="l"/>
              </a:tabLst>
            </a:pPr>
            <a:r>
              <a:rPr dirty="0" sz="2400" spc="-25"/>
              <a:t>5]</a:t>
            </a:r>
            <a:r>
              <a:rPr dirty="0" sz="2400"/>
              <a:t>	Cryptanalysis</a:t>
            </a:r>
            <a:r>
              <a:rPr dirty="0" sz="2400" spc="-130"/>
              <a:t> </a:t>
            </a:r>
            <a:r>
              <a:rPr dirty="0" sz="2400"/>
              <a:t>of</a:t>
            </a:r>
            <a:r>
              <a:rPr dirty="0" sz="2400" spc="-70"/>
              <a:t> </a:t>
            </a:r>
            <a:r>
              <a:rPr dirty="0" sz="2400"/>
              <a:t>multimedia</a:t>
            </a:r>
            <a:r>
              <a:rPr dirty="0" sz="2400" spc="25"/>
              <a:t> </a:t>
            </a:r>
            <a:r>
              <a:rPr dirty="0" sz="2400"/>
              <a:t>encryption</a:t>
            </a:r>
            <a:r>
              <a:rPr dirty="0" sz="2400" spc="-130"/>
              <a:t> </a:t>
            </a:r>
            <a:r>
              <a:rPr dirty="0" sz="2400"/>
              <a:t>using</a:t>
            </a:r>
            <a:r>
              <a:rPr dirty="0" sz="2400" spc="-70"/>
              <a:t> </a:t>
            </a:r>
            <a:r>
              <a:rPr dirty="0" sz="2400"/>
              <a:t>elliptic</a:t>
            </a:r>
            <a:r>
              <a:rPr dirty="0" sz="2400" spc="-120"/>
              <a:t> </a:t>
            </a:r>
            <a:r>
              <a:rPr dirty="0" sz="2400"/>
              <a:t>curve</a:t>
            </a:r>
            <a:r>
              <a:rPr dirty="0" sz="2400" spc="-50"/>
              <a:t> </a:t>
            </a:r>
            <a:r>
              <a:rPr dirty="0" sz="2400" spc="-10"/>
              <a:t>cryptography </a:t>
            </a:r>
            <a:r>
              <a:rPr dirty="0" sz="2400"/>
              <a:t>(Motilal</a:t>
            </a:r>
            <a:r>
              <a:rPr dirty="0" sz="2400" spc="-100"/>
              <a:t> </a:t>
            </a:r>
            <a:r>
              <a:rPr dirty="0" sz="2400"/>
              <a:t>KS,</a:t>
            </a:r>
            <a:r>
              <a:rPr dirty="0" sz="2400" spc="-25"/>
              <a:t> </a:t>
            </a:r>
            <a:r>
              <a:rPr dirty="0" sz="2400"/>
              <a:t>Singh</a:t>
            </a:r>
            <a:r>
              <a:rPr dirty="0" sz="2400" spc="-45"/>
              <a:t> </a:t>
            </a:r>
            <a:r>
              <a:rPr dirty="0" sz="2400"/>
              <a:t>LD,</a:t>
            </a:r>
            <a:r>
              <a:rPr dirty="0" sz="2400" spc="-60"/>
              <a:t> </a:t>
            </a:r>
            <a:r>
              <a:rPr dirty="0" sz="2400" spc="-30"/>
              <a:t>Tuithung</a:t>
            </a:r>
            <a:r>
              <a:rPr dirty="0" sz="2400" spc="-95"/>
              <a:t> </a:t>
            </a:r>
            <a:r>
              <a:rPr dirty="0" sz="2400" spc="-25"/>
              <a:t>T)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46810" y="2845648"/>
            <a:ext cx="10508615" cy="18561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81915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Tawalbeh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al.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cryptography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(ECC). </a:t>
            </a:r>
            <a:r>
              <a:rPr dirty="0" sz="2000">
                <a:latin typeface="Times New Roman"/>
                <a:cs typeface="Times New Roman"/>
              </a:rPr>
              <a:t>ECC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depends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difficulty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solve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discrete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logarithmic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problem.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However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we </a:t>
            </a:r>
            <a:r>
              <a:rPr dirty="0" sz="2000">
                <a:latin typeface="Times New Roman"/>
                <a:cs typeface="Times New Roman"/>
              </a:rPr>
              <a:t>found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order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Tawalbeh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al.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enough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protect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attacks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like </a:t>
            </a:r>
            <a:r>
              <a:rPr dirty="0" sz="2000">
                <a:latin typeface="Times New Roman"/>
                <a:cs typeface="Times New Roman"/>
              </a:rPr>
              <a:t>Baby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Pollard's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Rho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attack.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09503" y="6863512"/>
            <a:ext cx="18097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25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3036" y="1608787"/>
            <a:ext cx="4251875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5913" y="1458290"/>
            <a:ext cx="426148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10234" y="2589555"/>
            <a:ext cx="10549255" cy="18561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8895" marR="5080" indent="-36830">
              <a:lnSpc>
                <a:spcPct val="150100"/>
              </a:lnSpc>
              <a:spcBef>
                <a:spcPts val="95"/>
              </a:spcBef>
            </a:pPr>
            <a:r>
              <a:rPr dirty="0" sz="2000" spc="-30">
                <a:latin typeface="Times New Roman"/>
                <a:cs typeface="Times New Roman"/>
              </a:rPr>
              <a:t>Now-</a:t>
            </a:r>
            <a:r>
              <a:rPr dirty="0" sz="2000" spc="-10">
                <a:latin typeface="Times New Roman"/>
                <a:cs typeface="Times New Roman"/>
              </a:rPr>
              <a:t>a-</a:t>
            </a:r>
            <a:r>
              <a:rPr dirty="0" sz="2000">
                <a:latin typeface="Times New Roman"/>
                <a:cs typeface="Times New Roman"/>
              </a:rPr>
              <a:t>days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huge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amount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multimedia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floating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those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images,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4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technologies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those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encryption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content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binary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network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transfer.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09503" y="6863512"/>
            <a:ext cx="180975" cy="176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25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3975" y="1151587"/>
            <a:ext cx="3875795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627" rIns="0" bIns="0" rtlCol="0" vert="horz">
            <a:spAutoFit/>
          </a:bodyPr>
          <a:lstStyle/>
          <a:p>
            <a:pPr marL="152527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DISADVANTAGES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10844" y="1928825"/>
            <a:ext cx="4982210" cy="3787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455930" algn="l"/>
              </a:tabLst>
            </a:pPr>
            <a:r>
              <a:rPr dirty="0" sz="2000">
                <a:latin typeface="Times New Roman"/>
                <a:cs typeface="Times New Roman"/>
              </a:rPr>
              <a:t>Increased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binary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affecting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178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Slower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transfer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speed.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congestion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concerns.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18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Demands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higher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bandwidth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allocation.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Longer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duration.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Increased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transmission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65"/>
              <a:t> </a:t>
            </a:r>
            <a:r>
              <a:rPr dirty="0"/>
              <a:t>OF</a:t>
            </a:r>
            <a:r>
              <a:rPr dirty="0" spc="114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2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7549" y="1078435"/>
            <a:ext cx="4502742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5427" rIns="0" bIns="0" rtlCol="0" vert="horz">
            <a:spAutoFit/>
          </a:bodyPr>
          <a:lstStyle/>
          <a:p>
            <a:pPr marL="121856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30"/>
              <a:t> </a:t>
            </a:r>
            <a:r>
              <a:rPr dirty="0" spc="-10"/>
              <a:t>SYSTEM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39444" y="1906864"/>
            <a:ext cx="10054590" cy="3356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2860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transmission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pixel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grouping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cryptography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was </a:t>
            </a:r>
            <a:r>
              <a:rPr dirty="0" sz="2000">
                <a:latin typeface="Times New Roman"/>
                <a:cs typeface="Times New Roman"/>
              </a:rPr>
              <a:t>introduce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read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lengthy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encrypted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integer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lighter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transmission.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Encrypted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integer will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XOR </a:t>
            </a:r>
            <a:r>
              <a:rPr dirty="0" sz="2000">
                <a:latin typeface="Times New Roman"/>
                <a:cs typeface="Times New Roman"/>
              </a:rPr>
              <a:t>operation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decrypting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reverse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Chaotic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XOR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applied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lengthy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integer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size </a:t>
            </a:r>
            <a:r>
              <a:rPr dirty="0" sz="2000">
                <a:latin typeface="Times New Roman"/>
                <a:cs typeface="Times New Roman"/>
              </a:rPr>
              <a:t>higher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prime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decryption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accurate.</a:t>
            </a:r>
            <a:endParaRPr sz="2000">
              <a:latin typeface="Times New Roman"/>
              <a:cs typeface="Times New Roman"/>
            </a:endParaRPr>
          </a:p>
          <a:p>
            <a:pPr algn="just" marL="12700" marR="5080" indent="86360">
              <a:lnSpc>
                <a:spcPct val="150100"/>
              </a:lnSpc>
              <a:spcBef>
                <a:spcPts val="1010"/>
              </a:spcBef>
            </a:pP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avoid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incorrect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decryption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added</a:t>
            </a:r>
            <a:r>
              <a:rPr dirty="0" sz="2000" spc="4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Inverse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modulo</a:t>
            </a:r>
            <a:r>
              <a:rPr dirty="0" sz="2000" spc="4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reduce </a:t>
            </a:r>
            <a:r>
              <a:rPr dirty="0" sz="2000">
                <a:latin typeface="Times New Roman"/>
                <a:cs typeface="Times New Roman"/>
              </a:rPr>
              <a:t>lengthy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Prime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decryption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accurate.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65"/>
              <a:t> </a:t>
            </a:r>
            <a:r>
              <a:rPr dirty="0"/>
              <a:t>OF</a:t>
            </a:r>
            <a:r>
              <a:rPr dirty="0" spc="114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2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313" y="666955"/>
            <a:ext cx="3112545" cy="35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105" rIns="0" bIns="0" rtlCol="0" vert="horz">
            <a:spAutoFit/>
          </a:bodyPr>
          <a:lstStyle/>
          <a:p>
            <a:pPr marL="1873885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ADVANTAGES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10844" y="2056841"/>
            <a:ext cx="4453890" cy="3842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Improved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reliability.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5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Enhanced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execution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Enhanced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decryption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175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Optimized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technique.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Increased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encryption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robustness.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0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measures.</a:t>
            </a:r>
            <a:endParaRPr sz="2000">
              <a:latin typeface="Times New Roman"/>
              <a:cs typeface="Times New Roman"/>
            </a:endParaRPr>
          </a:p>
          <a:p>
            <a:pPr marL="391795" indent="-379095">
              <a:lnSpc>
                <a:spcPct val="100000"/>
              </a:lnSpc>
              <a:spcBef>
                <a:spcPts val="2215"/>
              </a:spcBef>
              <a:buAutoNum type="arabicPeriod"/>
              <a:tabLst>
                <a:tab pos="391795" algn="l"/>
              </a:tabLst>
            </a:pPr>
            <a:r>
              <a:rPr dirty="0" sz="2000">
                <a:latin typeface="Times New Roman"/>
                <a:cs typeface="Times New Roman"/>
              </a:rPr>
              <a:t>Enhanced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elliptic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curve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cryptography.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650210" y="666955"/>
            <a:ext cx="6829425" cy="1239520"/>
            <a:chOff x="2650210" y="666955"/>
            <a:chExt cx="6829425" cy="12395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0210" y="666955"/>
              <a:ext cx="6828850" cy="43418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5907" y="887006"/>
              <a:ext cx="4457445" cy="101939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335" rIns="0" bIns="0" rtlCol="0" vert="horz">
            <a:spAutoFit/>
          </a:bodyPr>
          <a:lstStyle/>
          <a:p>
            <a:pPr marL="1503045" marR="5080" indent="-1490980">
              <a:lnSpc>
                <a:spcPts val="3890"/>
              </a:lnSpc>
              <a:spcBef>
                <a:spcPts val="590"/>
              </a:spcBef>
            </a:pP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REQUIREMENTS</a:t>
            </a:r>
            <a:r>
              <a:rPr dirty="0" spc="-200"/>
              <a:t> </a:t>
            </a:r>
            <a:r>
              <a:rPr dirty="0" spc="-25"/>
              <a:t>AND </a:t>
            </a:r>
            <a:r>
              <a:rPr dirty="0" spc="-10"/>
              <a:t>SPECIFICATIONS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10844" y="2075129"/>
            <a:ext cx="4529455" cy="38195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400" spc="-35" b="1">
                <a:latin typeface="Times New Roman"/>
                <a:cs typeface="Times New Roman"/>
              </a:rPr>
              <a:t>HARDWARE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REQUIREMENTS: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000" b="1">
                <a:latin typeface="Times New Roman"/>
                <a:cs typeface="Times New Roman"/>
              </a:rPr>
              <a:t>RAM: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8 </a:t>
            </a:r>
            <a:r>
              <a:rPr dirty="0" sz="2000" spc="-25">
                <a:latin typeface="Times New Roman"/>
                <a:cs typeface="Times New Roman"/>
              </a:rPr>
              <a:t>GB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000" b="1">
                <a:latin typeface="Times New Roman"/>
                <a:cs typeface="Times New Roman"/>
              </a:rPr>
              <a:t>Hard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Disc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SSD:</a:t>
            </a:r>
            <a:r>
              <a:rPr dirty="0" sz="2000" spc="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500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GB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000" b="1">
                <a:latin typeface="Times New Roman"/>
                <a:cs typeface="Times New Roman"/>
              </a:rPr>
              <a:t>Processor: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3rd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high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35" b="1">
                <a:latin typeface="Times New Roman"/>
                <a:cs typeface="Times New Roman"/>
              </a:rPr>
              <a:t>SOFTWARE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REQUIREMENTS:</a:t>
            </a:r>
            <a:endParaRPr sz="2400">
              <a:latin typeface="Times New Roman"/>
              <a:cs typeface="Times New Roman"/>
            </a:endParaRPr>
          </a:p>
          <a:p>
            <a:pPr marL="12700" marR="454659">
              <a:lnSpc>
                <a:spcPct val="131400"/>
              </a:lnSpc>
              <a:spcBef>
                <a:spcPts val="45"/>
              </a:spcBef>
            </a:pPr>
            <a:r>
              <a:rPr dirty="0" sz="2000" b="1">
                <a:latin typeface="Times New Roman"/>
                <a:cs typeface="Times New Roman"/>
              </a:rPr>
              <a:t>Operating</a:t>
            </a:r>
            <a:r>
              <a:rPr dirty="0" sz="2000" spc="-1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system: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Windows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10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/11 </a:t>
            </a:r>
            <a:r>
              <a:rPr dirty="0" sz="2000" spc="-10" b="1">
                <a:latin typeface="Times New Roman"/>
                <a:cs typeface="Times New Roman"/>
              </a:rPr>
              <a:t>Software’s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: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Python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3.7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version </a:t>
            </a:r>
            <a:r>
              <a:rPr dirty="0" sz="2000" b="1">
                <a:latin typeface="Times New Roman"/>
                <a:cs typeface="Times New Roman"/>
              </a:rPr>
              <a:t>IDLE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: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Jupiter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Notebook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COMPUTER</a:t>
            </a:r>
            <a:r>
              <a:rPr dirty="0" spc="110"/>
              <a:t> </a:t>
            </a:r>
            <a:r>
              <a:rPr dirty="0"/>
              <a:t>SCIENCE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014" y="2460472"/>
            <a:ext cx="5528310" cy="14916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600" i="1">
                <a:latin typeface="Times New Roman"/>
                <a:cs typeface="Times New Roman"/>
              </a:rPr>
              <a:t>Thank</a:t>
            </a:r>
            <a:r>
              <a:rPr dirty="0" sz="9600" spc="-220" i="1">
                <a:latin typeface="Times New Roman"/>
                <a:cs typeface="Times New Roman"/>
              </a:rPr>
              <a:t> </a:t>
            </a:r>
            <a:r>
              <a:rPr dirty="0" sz="9600" spc="-1115" i="1">
                <a:latin typeface="Times New Roman"/>
                <a:cs typeface="Times New Roman"/>
              </a:rPr>
              <a:t>Y</a:t>
            </a:r>
            <a:r>
              <a:rPr dirty="0" sz="9600" spc="-25" i="1">
                <a:latin typeface="Times New Roman"/>
                <a:cs typeface="Times New Roman"/>
              </a:rPr>
              <a:t>ou</a:t>
            </a:r>
            <a:endParaRPr sz="9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4611" y="76403"/>
            <a:ext cx="1146047" cy="11460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6152" cy="122072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1/2/2026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20"/>
              </a:lnSpc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dirty="0" spc="170"/>
              <a:t> </a:t>
            </a:r>
            <a:r>
              <a:rPr dirty="0"/>
              <a:t>OF</a:t>
            </a:r>
            <a:r>
              <a:rPr dirty="0" spc="110"/>
              <a:t> </a:t>
            </a:r>
            <a:r>
              <a:rPr dirty="0"/>
              <a:t>COMPUTER</a:t>
            </a:r>
            <a:r>
              <a:rPr dirty="0" spc="130"/>
              <a:t> </a:t>
            </a:r>
            <a:r>
              <a:rPr dirty="0"/>
              <a:t>SCIENCE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235"/>
              <a:t> </a:t>
            </a:r>
            <a:r>
              <a:rPr dirty="0" spc="-10"/>
              <a:t>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2026-01-03T16:00:35Z</dcterms:created>
  <dcterms:modified xsi:type="dcterms:W3CDTF">2026-01-03T16:00:35Z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2026-01-03T00:00:00Z</vt:filetime>
  </property>
  <property fmtid="{D5CDD505-2E9C-101B-9397-08002B2CF9AE}" pid="5" name="Producer">
    <vt:lpwstr>3-Heights(TM) PDF Security Shell 4.8.25.2 (http://www.pdf-tools.com)</vt:lpwstr>
  </property>
</Properties>
</file>